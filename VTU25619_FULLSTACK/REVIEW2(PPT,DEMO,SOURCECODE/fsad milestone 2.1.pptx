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11"/>
          <p:cNvSpPr/>
          <p:nvPr/>
        </p:nvSpPr>
        <p:spPr>
          <a:xfrm>
            <a:off x="11762088" y="-9632634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20"/>
          <p:cNvSpPr/>
          <p:nvPr/>
        </p:nvSpPr>
        <p:spPr>
          <a:xfrm>
            <a:off x="-9965724" y="-1383136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pic>
        <p:nvPicPr>
          <p:cNvPr id="96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10443" y="196688"/>
            <a:ext cx="4752248" cy="1360613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23"/>
          <p:cNvSpPr txBox="1"/>
          <p:nvPr/>
        </p:nvSpPr>
        <p:spPr>
          <a:xfrm>
            <a:off x="1405721" y="1608481"/>
            <a:ext cx="15834362" cy="156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t>Vel Tech Rangarajan Dr. Sagunthala R&amp;D Institute of Science and Technology</a:t>
            </a:r>
          </a:p>
          <a:p>
            <a:pPr algn="ctr">
              <a:defRPr sz="3600">
                <a:latin typeface="Cambria"/>
                <a:ea typeface="Cambria"/>
                <a:cs typeface="Cambria"/>
                <a:sym typeface="Cambria"/>
              </a:defRPr>
            </a:pPr>
            <a:r>
              <a:t>School of Computing </a:t>
            </a:r>
          </a:p>
          <a:p>
            <a:pPr algn="ctr">
              <a:defRPr sz="3200">
                <a:latin typeface="Cambria"/>
                <a:ea typeface="Cambria"/>
                <a:cs typeface="Cambria"/>
                <a:sym typeface="Cambria"/>
              </a:defRPr>
            </a:pPr>
            <a:r>
              <a:t>Department of Computer Science and Engineering</a:t>
            </a:r>
          </a:p>
        </p:txBody>
      </p:sp>
      <p:sp>
        <p:nvSpPr>
          <p:cNvPr id="98" name="TextBox 25"/>
          <p:cNvSpPr txBox="1"/>
          <p:nvPr/>
        </p:nvSpPr>
        <p:spPr>
          <a:xfrm>
            <a:off x="1738554" y="3272356"/>
            <a:ext cx="15168697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0033C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10211CS224 / FULL STACK APPLICATION DEVELOPMENT (JAVA)</a:t>
            </a:r>
          </a:p>
        </p:txBody>
      </p:sp>
      <p:sp>
        <p:nvSpPr>
          <p:cNvPr id="99" name="TextBox 26"/>
          <p:cNvSpPr txBox="1"/>
          <p:nvPr/>
        </p:nvSpPr>
        <p:spPr>
          <a:xfrm>
            <a:off x="3773477" y="3897939"/>
            <a:ext cx="11098849" cy="167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PROJECT REVIEW : MILESTONE PROJECT – 2</a:t>
            </a:r>
          </a:p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algn="ctr">
              <a:defRPr b="1" sz="3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Date:22-04-2026</a:t>
            </a:r>
          </a:p>
        </p:txBody>
      </p:sp>
      <p:sp>
        <p:nvSpPr>
          <p:cNvPr id="100" name="TextBox 12"/>
          <p:cNvSpPr txBox="1"/>
          <p:nvPr/>
        </p:nvSpPr>
        <p:spPr>
          <a:xfrm>
            <a:off x="1547359" y="6057900"/>
            <a:ext cx="15692724" cy="548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068"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pPr/>
            <a:r>
              <a:t>                   EventSphere: Smart College Event Platform</a:t>
            </a:r>
          </a:p>
        </p:txBody>
      </p:sp>
      <p:sp>
        <p:nvSpPr>
          <p:cNvPr id="101" name="TextBox 13"/>
          <p:cNvSpPr txBox="1"/>
          <p:nvPr/>
        </p:nvSpPr>
        <p:spPr>
          <a:xfrm>
            <a:off x="479307" y="7800539"/>
            <a:ext cx="9436643" cy="123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Presented By:</a:t>
            </a:r>
          </a:p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CH.VENNELA REDDY– VTU25619– Reg.No.23UECS0956</a:t>
            </a:r>
          </a:p>
        </p:txBody>
      </p:sp>
      <p:sp>
        <p:nvSpPr>
          <p:cNvPr id="102" name="TextBox 14"/>
          <p:cNvSpPr txBox="1"/>
          <p:nvPr/>
        </p:nvSpPr>
        <p:spPr>
          <a:xfrm>
            <a:off x="11523933" y="7853597"/>
            <a:ext cx="6823162" cy="122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3000">
                <a:latin typeface="Cambria"/>
                <a:ea typeface="Cambria"/>
                <a:cs typeface="Cambria"/>
                <a:sym typeface="Cambria"/>
              </a:defRPr>
            </a:pPr>
            <a:r>
              <a:t>Courses Handling Faculty: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000">
                <a:latin typeface="Bookman Old Style"/>
                <a:ea typeface="Bookman Old Style"/>
                <a:cs typeface="Bookman Old Style"/>
                <a:sym typeface="Bookman Old Style"/>
              </a:defRPr>
            </a:pPr>
            <a:r>
              <a:t>Dr.S.Hemamalini,M.E,Ph.D.</a:t>
            </a:r>
          </a:p>
        </p:txBody>
      </p:sp>
      <p:sp>
        <p:nvSpPr>
          <p:cNvPr id="103" name="TextBox 15"/>
          <p:cNvSpPr txBox="1"/>
          <p:nvPr/>
        </p:nvSpPr>
        <p:spPr>
          <a:xfrm>
            <a:off x="2255520" y="6972300"/>
            <a:ext cx="14651731" cy="1158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SDG:4 – Quality Education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Freeform 8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08" name="Group 9"/>
          <p:cNvGrpSpPr/>
          <p:nvPr/>
        </p:nvGrpSpPr>
        <p:grpSpPr>
          <a:xfrm>
            <a:off x="706081" y="1952202"/>
            <a:ext cx="992464" cy="992464"/>
            <a:chOff x="0" y="0"/>
            <a:chExt cx="992462" cy="992462"/>
          </a:xfrm>
        </p:grpSpPr>
        <p:sp>
          <p:nvSpPr>
            <p:cNvPr id="106" name="Freeform 1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7" name="TextBox 11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11" name="Group 12"/>
          <p:cNvGrpSpPr/>
          <p:nvPr/>
        </p:nvGrpSpPr>
        <p:grpSpPr>
          <a:xfrm>
            <a:off x="948235" y="4447339"/>
            <a:ext cx="508159" cy="543806"/>
            <a:chOff x="0" y="0"/>
            <a:chExt cx="508157" cy="543804"/>
          </a:xfrm>
        </p:grpSpPr>
        <p:sp>
          <p:nvSpPr>
            <p:cNvPr id="109" name="Freeform 1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0" name="TextBox 1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14" name="Group 15"/>
          <p:cNvGrpSpPr/>
          <p:nvPr/>
        </p:nvGrpSpPr>
        <p:grpSpPr>
          <a:xfrm>
            <a:off x="948235" y="3107362"/>
            <a:ext cx="508159" cy="543806"/>
            <a:chOff x="0" y="0"/>
            <a:chExt cx="508157" cy="543804"/>
          </a:xfrm>
        </p:grpSpPr>
        <p:sp>
          <p:nvSpPr>
            <p:cNvPr id="112" name="Freeform 1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3" name="TextBox 1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17" name="Group 18"/>
          <p:cNvGrpSpPr/>
          <p:nvPr/>
        </p:nvGrpSpPr>
        <p:grpSpPr>
          <a:xfrm>
            <a:off x="948235" y="5115752"/>
            <a:ext cx="508159" cy="543806"/>
            <a:chOff x="0" y="0"/>
            <a:chExt cx="508157" cy="543804"/>
          </a:xfrm>
        </p:grpSpPr>
        <p:sp>
          <p:nvSpPr>
            <p:cNvPr id="115" name="Freeform 1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6" name="TextBox 2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20" name="Group 21"/>
          <p:cNvGrpSpPr/>
          <p:nvPr/>
        </p:nvGrpSpPr>
        <p:grpSpPr>
          <a:xfrm>
            <a:off x="948235" y="3776486"/>
            <a:ext cx="508159" cy="543806"/>
            <a:chOff x="0" y="0"/>
            <a:chExt cx="508157" cy="543804"/>
          </a:xfrm>
        </p:grpSpPr>
        <p:sp>
          <p:nvSpPr>
            <p:cNvPr id="118" name="Freeform 2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9" name="TextBox 2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23" name="Group 24"/>
          <p:cNvGrpSpPr/>
          <p:nvPr/>
        </p:nvGrpSpPr>
        <p:grpSpPr>
          <a:xfrm>
            <a:off x="948235" y="6455729"/>
            <a:ext cx="508159" cy="543806"/>
            <a:chOff x="0" y="0"/>
            <a:chExt cx="508157" cy="543804"/>
          </a:xfrm>
        </p:grpSpPr>
        <p:sp>
          <p:nvSpPr>
            <p:cNvPr id="121" name="Freeform 2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2" name="TextBox 2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26" name="Group 27"/>
          <p:cNvGrpSpPr/>
          <p:nvPr/>
        </p:nvGrpSpPr>
        <p:grpSpPr>
          <a:xfrm>
            <a:off x="948235" y="5784877"/>
            <a:ext cx="508159" cy="543806"/>
            <a:chOff x="0" y="0"/>
            <a:chExt cx="508157" cy="543804"/>
          </a:xfrm>
        </p:grpSpPr>
        <p:sp>
          <p:nvSpPr>
            <p:cNvPr id="124" name="Freeform 2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5" name="TextBox 2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29" name="Group 36"/>
          <p:cNvGrpSpPr/>
          <p:nvPr/>
        </p:nvGrpSpPr>
        <p:grpSpPr>
          <a:xfrm>
            <a:off x="948235" y="7123361"/>
            <a:ext cx="508159" cy="543806"/>
            <a:chOff x="0" y="0"/>
            <a:chExt cx="508157" cy="543804"/>
          </a:xfrm>
        </p:grpSpPr>
        <p:sp>
          <p:nvSpPr>
            <p:cNvPr id="127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8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32" name="Group 39"/>
          <p:cNvGrpSpPr/>
          <p:nvPr/>
        </p:nvGrpSpPr>
        <p:grpSpPr>
          <a:xfrm>
            <a:off x="948235" y="7790991"/>
            <a:ext cx="508159" cy="543806"/>
            <a:chOff x="0" y="0"/>
            <a:chExt cx="508157" cy="543804"/>
          </a:xfrm>
        </p:grpSpPr>
        <p:sp>
          <p:nvSpPr>
            <p:cNvPr id="130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33" name="TextBox 1"/>
          <p:cNvSpPr txBox="1"/>
          <p:nvPr/>
        </p:nvSpPr>
        <p:spPr>
          <a:xfrm>
            <a:off x="198120" y="342899"/>
            <a:ext cx="180441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34" name="EventSphere is a web-based platform designed to simplify and digitize college event management.…"/>
          <p:cNvSpPr txBox="1"/>
          <p:nvPr/>
        </p:nvSpPr>
        <p:spPr>
          <a:xfrm>
            <a:off x="3233009" y="2170539"/>
            <a:ext cx="12932147" cy="6996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EventSphere is a web-based platform designed to simplify and digitize college event management.</a:t>
            </a:r>
          </a:p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integrates all processes like event registration, payment, attendance tracking, and certificate generation into one system.</a:t>
            </a:r>
          </a:p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platform includes two modules: Student Portal for users and Admin Portal for event organizers.</a:t>
            </a:r>
          </a:p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Students can view events, register online, and make secure payments through the platform.</a:t>
            </a:r>
          </a:p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Admins can create/manage events, monitor registrations, and track payments in real time.</a:t>
            </a:r>
          </a:p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Attendance is marked by the admin, and only students who are present are considered valid participants.</a:t>
            </a:r>
          </a:p>
          <a:p>
            <a:pPr marL="120315" indent="-120315" defTabSz="457200">
              <a:spcBef>
                <a:spcPts val="5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provides automatic certificate generation, allowing eligible students to download their certificates instantly.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39" name="Group 11"/>
          <p:cNvGrpSpPr/>
          <p:nvPr/>
        </p:nvGrpSpPr>
        <p:grpSpPr>
          <a:xfrm>
            <a:off x="709356" y="2648112"/>
            <a:ext cx="992464" cy="992463"/>
            <a:chOff x="0" y="0"/>
            <a:chExt cx="992462" cy="992462"/>
          </a:xfrm>
        </p:grpSpPr>
        <p:sp>
          <p:nvSpPr>
            <p:cNvPr id="137" name="Freeform 12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8" name="TextBox 13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42" name="Group 14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40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1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45" name="Group 17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43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4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48" name="Group 20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46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51" name="Group 23"/>
          <p:cNvGrpSpPr/>
          <p:nvPr/>
        </p:nvGrpSpPr>
        <p:grpSpPr>
          <a:xfrm>
            <a:off x="951508" y="3762533"/>
            <a:ext cx="508159" cy="543806"/>
            <a:chOff x="0" y="0"/>
            <a:chExt cx="508157" cy="543804"/>
          </a:xfrm>
        </p:grpSpPr>
        <p:sp>
          <p:nvSpPr>
            <p:cNvPr id="149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54" name="Group 26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52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3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57" name="Group 29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55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60" name="Group 36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58" name="Freeform 3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9" name="TextBox 3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63" name="Group 39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61" name="Freeform 4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2" name="TextBox 4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64" name="TextBox 46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65" name="TextBox 47"/>
          <p:cNvSpPr txBox="1"/>
          <p:nvPr/>
        </p:nvSpPr>
        <p:spPr>
          <a:xfrm>
            <a:off x="2255519" y="1638299"/>
            <a:ext cx="14990886" cy="8148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3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 many colleges, event management is handled manually or through separate systems, causing inefficiency and errors. Registration, payment tracking, attendance marking, and certificate distribution are often unorganized and time-consuming. There is no proper system to ensure that only students who attend events receive certificates. Hence, a centralized platform is needed to automate and streamline the entire process efficiently.</a:t>
            </a: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  <a:p>
            <a:pPr marL="457199" indent="-457199">
              <a:buSzPct val="100000"/>
              <a:buChar char="-"/>
              <a:defRPr sz="3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7"/>
          <p:cNvGrpSpPr/>
          <p:nvPr/>
        </p:nvGrpSpPr>
        <p:grpSpPr>
          <a:xfrm>
            <a:off x="709356" y="3315742"/>
            <a:ext cx="992464" cy="992464"/>
            <a:chOff x="0" y="0"/>
            <a:chExt cx="992462" cy="992462"/>
          </a:xfrm>
        </p:grpSpPr>
        <p:sp>
          <p:nvSpPr>
            <p:cNvPr id="16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8" name="TextBox 9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72" name="Group 10"/>
          <p:cNvGrpSpPr/>
          <p:nvPr/>
        </p:nvGrpSpPr>
        <p:grpSpPr>
          <a:xfrm>
            <a:off x="951508" y="4428295"/>
            <a:ext cx="508159" cy="543806"/>
            <a:chOff x="0" y="0"/>
            <a:chExt cx="508157" cy="543804"/>
          </a:xfrm>
        </p:grpSpPr>
        <p:sp>
          <p:nvSpPr>
            <p:cNvPr id="17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75" name="Group 13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17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78" name="Group 16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17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81" name="Group 19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17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84" name="Group 22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18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87" name="Group 25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18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90" name="Group 41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188" name="Freeform 4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" name="TextBox 4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93" name="Group 44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191" name="Freeform 4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" name="TextBox 4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194" name="TextBox 49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OBJECTIVE(S)</a:t>
            </a:r>
          </a:p>
        </p:txBody>
      </p:sp>
      <p:sp>
        <p:nvSpPr>
          <p:cNvPr id="19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Box 51"/>
          <p:cNvSpPr txBox="1"/>
          <p:nvPr/>
        </p:nvSpPr>
        <p:spPr>
          <a:xfrm>
            <a:off x="2291065" y="2082614"/>
            <a:ext cx="14948397" cy="876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00789" indent="-300789" defTabSz="457200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develop a centralized platform for managing all college event activities in one place.</a:t>
            </a:r>
          </a:p>
          <a:p>
            <a:pPr marL="300789" indent="-300789" defTabSz="457200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enable easy online event registration and secure payment processing for students.</a:t>
            </a:r>
          </a:p>
          <a:p>
            <a:pPr marL="300789" indent="-300789" defTabSz="457200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provide an efficient system for real-time attendance tracking by the admin.</a:t>
            </a:r>
          </a:p>
          <a:p>
            <a:pPr marL="300789" indent="-300789" defTabSz="457200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 automate certificate generation and distribution for students who attend the events.</a:t>
            </a:r>
          </a:p>
          <a:p>
            <a:pPr marL="300789" indent="-300789" defTabSz="457200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00789" indent="-300789">
              <a:spcBef>
                <a:spcPts val="1600"/>
              </a:spcBef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13"/>
          <p:cNvGrpSpPr/>
          <p:nvPr/>
        </p:nvGrpSpPr>
        <p:grpSpPr>
          <a:xfrm>
            <a:off x="709356" y="3983373"/>
            <a:ext cx="992464" cy="992464"/>
            <a:chOff x="0" y="0"/>
            <a:chExt cx="992462" cy="992462"/>
          </a:xfrm>
        </p:grpSpPr>
        <p:sp>
          <p:nvSpPr>
            <p:cNvPr id="198" name="Freeform 14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" name="TextBox 15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03" name="Group 16"/>
          <p:cNvGrpSpPr/>
          <p:nvPr/>
        </p:nvGrpSpPr>
        <p:grpSpPr>
          <a:xfrm>
            <a:off x="951508" y="3315742"/>
            <a:ext cx="508159" cy="543806"/>
            <a:chOff x="0" y="0"/>
            <a:chExt cx="508157" cy="543804"/>
          </a:xfrm>
        </p:grpSpPr>
        <p:sp>
          <p:nvSpPr>
            <p:cNvPr id="201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2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06" name="Group 19"/>
          <p:cNvGrpSpPr/>
          <p:nvPr/>
        </p:nvGrpSpPr>
        <p:grpSpPr>
          <a:xfrm>
            <a:off x="951508" y="1982348"/>
            <a:ext cx="508159" cy="543806"/>
            <a:chOff x="0" y="0"/>
            <a:chExt cx="508157" cy="543804"/>
          </a:xfrm>
        </p:grpSpPr>
        <p:sp>
          <p:nvSpPr>
            <p:cNvPr id="204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5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09" name="Group 22"/>
          <p:cNvGrpSpPr/>
          <p:nvPr/>
        </p:nvGrpSpPr>
        <p:grpSpPr>
          <a:xfrm>
            <a:off x="951508" y="5094058"/>
            <a:ext cx="508159" cy="543806"/>
            <a:chOff x="0" y="0"/>
            <a:chExt cx="508157" cy="543804"/>
          </a:xfrm>
        </p:grpSpPr>
        <p:sp>
          <p:nvSpPr>
            <p:cNvPr id="207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8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12" name="Group 25"/>
          <p:cNvGrpSpPr/>
          <p:nvPr/>
        </p:nvGrpSpPr>
        <p:grpSpPr>
          <a:xfrm>
            <a:off x="951508" y="2648112"/>
            <a:ext cx="508159" cy="543806"/>
            <a:chOff x="0" y="0"/>
            <a:chExt cx="508157" cy="543804"/>
          </a:xfrm>
        </p:grpSpPr>
        <p:sp>
          <p:nvSpPr>
            <p:cNvPr id="210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1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15" name="Group 28"/>
          <p:cNvGrpSpPr/>
          <p:nvPr/>
        </p:nvGrpSpPr>
        <p:grpSpPr>
          <a:xfrm>
            <a:off x="951508" y="6425584"/>
            <a:ext cx="508159" cy="543806"/>
            <a:chOff x="0" y="0"/>
            <a:chExt cx="508157" cy="543804"/>
          </a:xfrm>
        </p:grpSpPr>
        <p:sp>
          <p:nvSpPr>
            <p:cNvPr id="213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4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18" name="Group 31"/>
          <p:cNvGrpSpPr/>
          <p:nvPr/>
        </p:nvGrpSpPr>
        <p:grpSpPr>
          <a:xfrm>
            <a:off x="951508" y="5759822"/>
            <a:ext cx="508159" cy="543806"/>
            <a:chOff x="0" y="0"/>
            <a:chExt cx="508157" cy="543804"/>
          </a:xfrm>
        </p:grpSpPr>
        <p:sp>
          <p:nvSpPr>
            <p:cNvPr id="216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7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21" name="Group 34"/>
          <p:cNvGrpSpPr/>
          <p:nvPr/>
        </p:nvGrpSpPr>
        <p:grpSpPr>
          <a:xfrm>
            <a:off x="951508" y="7093215"/>
            <a:ext cx="508159" cy="543806"/>
            <a:chOff x="0" y="0"/>
            <a:chExt cx="508157" cy="543804"/>
          </a:xfrm>
        </p:grpSpPr>
        <p:sp>
          <p:nvSpPr>
            <p:cNvPr id="219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0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24" name="Group 37"/>
          <p:cNvGrpSpPr/>
          <p:nvPr/>
        </p:nvGrpSpPr>
        <p:grpSpPr>
          <a:xfrm>
            <a:off x="951508" y="7760845"/>
            <a:ext cx="508159" cy="543806"/>
            <a:chOff x="0" y="0"/>
            <a:chExt cx="508157" cy="543804"/>
          </a:xfrm>
        </p:grpSpPr>
        <p:sp>
          <p:nvSpPr>
            <p:cNvPr id="22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25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Box 45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</a:t>
            </a:r>
          </a:p>
        </p:txBody>
      </p:sp>
      <p:sp>
        <p:nvSpPr>
          <p:cNvPr id="227" name="EventSphere is a centralized web-based platform for managing college events efficiently.…"/>
          <p:cNvSpPr txBox="1"/>
          <p:nvPr/>
        </p:nvSpPr>
        <p:spPr>
          <a:xfrm>
            <a:off x="2412903" y="1790825"/>
            <a:ext cx="12871463" cy="612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EventSphere is a centralized web-based platform for managing college events efficiently.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integrates key functionalities such as event creation, registration, payment, attendance tracking, and certificate generation into one system.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provides two modules: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Student Portal for browsing events, registration, and payment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Admin Portal for managing events and monitoring activities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Students can register for events and make secure online payments through the platform.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Admins can create events, track registrations, and manage payments in real time.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Digital attendance marking is done by the admin during the event to ensure accuracy.</a:t>
            </a:r>
          </a:p>
          <a:p>
            <a:pPr marL="200526" indent="-200526" defTabSz="457200">
              <a:buSzPct val="100000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enables automatic certificate generation, allowing only eligible (present) students to download their certificates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roup 5"/>
          <p:cNvGrpSpPr/>
          <p:nvPr/>
        </p:nvGrpSpPr>
        <p:grpSpPr>
          <a:xfrm>
            <a:off x="709356" y="4655765"/>
            <a:ext cx="992464" cy="992464"/>
            <a:chOff x="0" y="0"/>
            <a:chExt cx="992462" cy="992462"/>
          </a:xfrm>
        </p:grpSpPr>
        <p:sp>
          <p:nvSpPr>
            <p:cNvPr id="229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0" name="TextBox 7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34" name="Group 8"/>
          <p:cNvGrpSpPr/>
          <p:nvPr/>
        </p:nvGrpSpPr>
        <p:grpSpPr>
          <a:xfrm>
            <a:off x="951508" y="3320505"/>
            <a:ext cx="508159" cy="543806"/>
            <a:chOff x="0" y="0"/>
            <a:chExt cx="508157" cy="543804"/>
          </a:xfrm>
        </p:grpSpPr>
        <p:sp>
          <p:nvSpPr>
            <p:cNvPr id="232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3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37" name="Group 11"/>
          <p:cNvGrpSpPr/>
          <p:nvPr/>
        </p:nvGrpSpPr>
        <p:grpSpPr>
          <a:xfrm>
            <a:off x="951508" y="1987111"/>
            <a:ext cx="508159" cy="543806"/>
            <a:chOff x="0" y="0"/>
            <a:chExt cx="508157" cy="543804"/>
          </a:xfrm>
        </p:grpSpPr>
        <p:sp>
          <p:nvSpPr>
            <p:cNvPr id="235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6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40" name="Group 14"/>
          <p:cNvGrpSpPr/>
          <p:nvPr/>
        </p:nvGrpSpPr>
        <p:grpSpPr>
          <a:xfrm>
            <a:off x="951508" y="3988134"/>
            <a:ext cx="508159" cy="543806"/>
            <a:chOff x="0" y="0"/>
            <a:chExt cx="508157" cy="543804"/>
          </a:xfrm>
        </p:grpSpPr>
        <p:sp>
          <p:nvSpPr>
            <p:cNvPr id="238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9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43" name="Group 17"/>
          <p:cNvGrpSpPr/>
          <p:nvPr/>
        </p:nvGrpSpPr>
        <p:grpSpPr>
          <a:xfrm>
            <a:off x="951508" y="2652873"/>
            <a:ext cx="508159" cy="543806"/>
            <a:chOff x="0" y="0"/>
            <a:chExt cx="508157" cy="543804"/>
          </a:xfrm>
        </p:grpSpPr>
        <p:sp>
          <p:nvSpPr>
            <p:cNvPr id="241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2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46" name="Group 20"/>
          <p:cNvGrpSpPr/>
          <p:nvPr/>
        </p:nvGrpSpPr>
        <p:grpSpPr>
          <a:xfrm>
            <a:off x="951508" y="6430347"/>
            <a:ext cx="508159" cy="543806"/>
            <a:chOff x="0" y="0"/>
            <a:chExt cx="508157" cy="543804"/>
          </a:xfrm>
        </p:grpSpPr>
        <p:sp>
          <p:nvSpPr>
            <p:cNvPr id="244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5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49" name="Group 23"/>
          <p:cNvGrpSpPr/>
          <p:nvPr/>
        </p:nvGrpSpPr>
        <p:grpSpPr>
          <a:xfrm>
            <a:off x="951508" y="5764584"/>
            <a:ext cx="508159" cy="543806"/>
            <a:chOff x="0" y="0"/>
            <a:chExt cx="508157" cy="543804"/>
          </a:xfrm>
        </p:grpSpPr>
        <p:sp>
          <p:nvSpPr>
            <p:cNvPr id="247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8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52" name="Group 26"/>
          <p:cNvGrpSpPr/>
          <p:nvPr/>
        </p:nvGrpSpPr>
        <p:grpSpPr>
          <a:xfrm>
            <a:off x="951508" y="7088453"/>
            <a:ext cx="508159" cy="543806"/>
            <a:chOff x="0" y="0"/>
            <a:chExt cx="508157" cy="543804"/>
          </a:xfrm>
        </p:grpSpPr>
        <p:sp>
          <p:nvSpPr>
            <p:cNvPr id="250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1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55" name="Group 29"/>
          <p:cNvGrpSpPr/>
          <p:nvPr/>
        </p:nvGrpSpPr>
        <p:grpSpPr>
          <a:xfrm>
            <a:off x="951508" y="7756083"/>
            <a:ext cx="508159" cy="543806"/>
            <a:chOff x="0" y="0"/>
            <a:chExt cx="508157" cy="543804"/>
          </a:xfrm>
        </p:grpSpPr>
        <p:sp>
          <p:nvSpPr>
            <p:cNvPr id="253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4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56" name="Freeform 38"/>
          <p:cNvSpPr/>
          <p:nvPr/>
        </p:nvSpPr>
        <p:spPr>
          <a:xfrm>
            <a:off x="11762088" y="-9632634"/>
            <a:ext cx="10994424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Box 41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SYSTEM ARCHITECTURE</a:t>
            </a:r>
          </a:p>
        </p:txBody>
      </p:sp>
      <p:pic>
        <p:nvPicPr>
          <p:cNvPr id="259" name="ChatGPT Image Apr 22, 2026 at 12_57_58 AM.png" descr="ChatGPT Image Apr 22, 2026 at 12_57_58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32551" y="1759486"/>
            <a:ext cx="10685667" cy="71237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up 14"/>
          <p:cNvGrpSpPr/>
          <p:nvPr/>
        </p:nvGrpSpPr>
        <p:grpSpPr>
          <a:xfrm>
            <a:off x="735587" y="5318633"/>
            <a:ext cx="992464" cy="992464"/>
            <a:chOff x="0" y="0"/>
            <a:chExt cx="992462" cy="992462"/>
          </a:xfrm>
        </p:grpSpPr>
        <p:sp>
          <p:nvSpPr>
            <p:cNvPr id="261" name="Freeform 15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2" name="TextBox 16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66" name="Group 17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64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5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69" name="Group 20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267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8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272" name="Group 23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270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1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75" name="Group 26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273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278" name="Group 29"/>
          <p:cNvGrpSpPr/>
          <p:nvPr/>
        </p:nvGrpSpPr>
        <p:grpSpPr>
          <a:xfrm>
            <a:off x="977740" y="6425584"/>
            <a:ext cx="508159" cy="543806"/>
            <a:chOff x="0" y="0"/>
            <a:chExt cx="508157" cy="543804"/>
          </a:xfrm>
        </p:grpSpPr>
        <p:sp>
          <p:nvSpPr>
            <p:cNvPr id="276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7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81" name="Group 32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279" name="Freeform 3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0" name="TextBox 3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84" name="Group 37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282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3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87" name="Group 40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285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6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288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Box 46"/>
          <p:cNvSpPr txBox="1"/>
          <p:nvPr/>
        </p:nvSpPr>
        <p:spPr>
          <a:xfrm>
            <a:off x="236220" y="315937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WORKFLOW</a:t>
            </a:r>
          </a:p>
        </p:txBody>
      </p:sp>
      <p:pic>
        <p:nvPicPr>
          <p:cNvPr id="290" name="ChatGPT Image Apr 22, 2026 at 01_00_39 AM.png" descr="ChatGPT Image Apr 22, 2026 at 01_00_3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81601" y="1807155"/>
            <a:ext cx="11120235" cy="74134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roup 19"/>
          <p:cNvGrpSpPr/>
          <p:nvPr/>
        </p:nvGrpSpPr>
        <p:grpSpPr>
          <a:xfrm>
            <a:off x="735587" y="5976927"/>
            <a:ext cx="992464" cy="992464"/>
            <a:chOff x="0" y="0"/>
            <a:chExt cx="992462" cy="992462"/>
          </a:xfrm>
        </p:grpSpPr>
        <p:sp>
          <p:nvSpPr>
            <p:cNvPr id="292" name="Freeform 20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3" name="TextBox 21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97" name="Group 22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295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6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00" name="Group 25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298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9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03" name="Group 28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01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06" name="Group 31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04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5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09" name="Group 34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07" name="Freeform 3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8" name="TextBox 3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12" name="Group 37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10" name="Freeform 3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1" name="TextBox 3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15" name="Group 40"/>
          <p:cNvGrpSpPr/>
          <p:nvPr/>
        </p:nvGrpSpPr>
        <p:grpSpPr>
          <a:xfrm>
            <a:off x="977740" y="7093215"/>
            <a:ext cx="508159" cy="543806"/>
            <a:chOff x="0" y="0"/>
            <a:chExt cx="508157" cy="543804"/>
          </a:xfrm>
        </p:grpSpPr>
        <p:sp>
          <p:nvSpPr>
            <p:cNvPr id="313" name="Freeform 4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4" name="TextBox 4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18" name="Group 43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16" name="Freeform 4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7" name="TextBox 4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19" name="Freeform 10"/>
          <p:cNvSpPr/>
          <p:nvPr/>
        </p:nvSpPr>
        <p:spPr>
          <a:xfrm>
            <a:off x="16313419" y="910464"/>
            <a:ext cx="945881" cy="23647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Box 46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321" name="TextBox 47"/>
          <p:cNvSpPr txBox="1"/>
          <p:nvPr/>
        </p:nvSpPr>
        <p:spPr>
          <a:xfrm>
            <a:off x="2255519" y="1638299"/>
            <a:ext cx="14990886" cy="8812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 defTabSz="457200">
              <a:buSzPct val="100000"/>
              <a:buAutoNum type="arabicPeriod" startAt="1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Frontend:</a:t>
            </a:r>
            <a:r>
              <a:t> React JS, HTML, CSS</a:t>
            </a:r>
          </a:p>
          <a:p>
            <a:pPr marL="228600" indent="-228600" defTabSz="457200">
              <a:buSzPct val="100000"/>
              <a:buAutoNum type="arabicPeriod" startAt="1"/>
              <a:defRPr b="1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Backend:</a:t>
            </a:r>
            <a:r>
              <a:rPr b="0"/>
              <a:t> PHP</a:t>
            </a:r>
            <a:endParaRPr b="0"/>
          </a:p>
          <a:p>
            <a:pPr marL="228600" indent="-228600" defTabSz="457200">
              <a:buSzPct val="100000"/>
              <a:buAutoNum type="arabicPeriod" startAt="1"/>
              <a:defRPr b="1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Database:</a:t>
            </a:r>
            <a:r>
              <a:rPr b="0"/>
              <a:t> MySQL</a:t>
            </a:r>
            <a:endParaRPr b="0"/>
          </a:p>
          <a:p>
            <a:pPr marL="228600" indent="-228600" defTabSz="457200">
              <a:buSzPct val="100000"/>
              <a:buAutoNum type="arabicPeriod" startAt="1"/>
              <a:defRPr b="1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Tools: </a:t>
            </a:r>
            <a:r>
              <a:rPr b="0"/>
              <a:t>XAMPP, VS Code, phpMyAdmin</a:t>
            </a:r>
            <a:endParaRPr b="0"/>
          </a:p>
          <a:p>
            <a:pPr marL="228600" indent="-228600" defTabSz="457200">
              <a:buSzPct val="100000"/>
              <a:buAutoNum type="arabicPeriod" startAt="1"/>
              <a:defRPr b="1"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Hardware/Software Requirements:</a:t>
            </a:r>
            <a:r>
              <a:t> </a:t>
            </a:r>
            <a:r>
              <a:rPr b="0"/>
              <a:t>A laptop with minimum 4GB RAM, web browser (Chrome/Edge),   XAMPP server installed</a:t>
            </a:r>
          </a:p>
          <a:p>
            <a:pPr marL="228600" indent="-228600">
              <a:spcBef>
                <a:spcPts val="1000"/>
              </a:spcBef>
              <a:buSzPct val="100000"/>
              <a:buAutoNum type="arabicPeriod" startAt="1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7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8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9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10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11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12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13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14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228600" indent="-228600">
              <a:spcBef>
                <a:spcPts val="1000"/>
              </a:spcBef>
              <a:buSzPct val="100000"/>
              <a:buAutoNum type="arabicPeriod" startAt="15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23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4" name="TextBox 9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28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26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7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31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29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0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34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32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3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37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35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6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40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38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9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43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41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2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46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44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5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49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47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8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50" name="Freeform 34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Freeform 36"/>
          <p:cNvSpPr/>
          <p:nvPr/>
        </p:nvSpPr>
        <p:spPr>
          <a:xfrm>
            <a:off x="17170669" y="-178579"/>
            <a:ext cx="10994425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Box 42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MODULE DESCRIPTION</a:t>
            </a:r>
          </a:p>
        </p:txBody>
      </p:sp>
      <p:sp>
        <p:nvSpPr>
          <p:cNvPr id="353" name="Student Module: Allows students to view available events, register for events, make online payments, and download certificates after successful participation.…"/>
          <p:cNvSpPr txBox="1"/>
          <p:nvPr/>
        </p:nvSpPr>
        <p:spPr>
          <a:xfrm>
            <a:off x="2816451" y="1666708"/>
            <a:ext cx="13794569" cy="7847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Student Module:</a:t>
            </a:r>
            <a:br>
              <a:rPr b="1"/>
            </a:br>
            <a:r>
              <a:t>Allows students to view available events, register for events, make online payments, and download certificates after successful participation.</a:t>
            </a:r>
          </a:p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Admin Module:</a:t>
            </a:r>
            <a:br/>
            <a:r>
              <a:t>Enables admin to create and manage events, monitor registrations, verify payments, and mark student attendance.</a:t>
            </a:r>
          </a:p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Event Management Module:</a:t>
            </a:r>
            <a:br/>
            <a:r>
              <a:t>Handles creation, updating, and deletion of events along with event details like date, time, and fees.</a:t>
            </a:r>
          </a:p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Registration &amp; Payment Module:</a:t>
            </a:r>
            <a:br/>
            <a:r>
              <a:t>Manages student registrations and processes secure payments while maintaining transaction records.</a:t>
            </a:r>
          </a:p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Attendance Module:</a:t>
            </a:r>
            <a:br/>
            <a:r>
              <a:t>Allows admin to mark and store attendance of students during the event.</a:t>
            </a:r>
          </a:p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Certificate Generation Module:</a:t>
            </a:r>
            <a:br/>
            <a:r>
              <a:t>Automatically generates certificates for students who are marked present and makes them available for download.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55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6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360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58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9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63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61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2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66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64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5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369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67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72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370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1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375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373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4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78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376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381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379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0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382" name="Freeform 34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Freeform 36"/>
          <p:cNvSpPr/>
          <p:nvPr/>
        </p:nvSpPr>
        <p:spPr>
          <a:xfrm>
            <a:off x="17170669" y="-178579"/>
            <a:ext cx="10994425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Box 42"/>
          <p:cNvSpPr txBox="1"/>
          <p:nvPr/>
        </p:nvSpPr>
        <p:spPr>
          <a:xfrm>
            <a:off x="1406656" y="165174"/>
            <a:ext cx="17815562" cy="764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385" name="Screenshot 2026-04-22 at 1.14.39 AM.png" descr="Screenshot 2026-04-22 at 1.14.39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54741" y="1444280"/>
            <a:ext cx="11837502" cy="7398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387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8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8(A)</a:t>
              </a:r>
            </a:p>
          </p:txBody>
        </p:sp>
      </p:grpSp>
      <p:grpSp>
        <p:nvGrpSpPr>
          <p:cNvPr id="392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390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1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395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393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4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98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396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7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01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399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0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04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02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3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07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05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6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10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08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9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13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11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2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14" name="Freeform 34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Freeform 36"/>
          <p:cNvSpPr/>
          <p:nvPr/>
        </p:nvSpPr>
        <p:spPr>
          <a:xfrm>
            <a:off x="17170669" y="-178579"/>
            <a:ext cx="10994425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Box 42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17" name="Screenshot 2026-04-22 at 1.15.07 AM.png" descr="Screenshot 2026-04-22 at 1.15.07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62752" y="1798792"/>
            <a:ext cx="12133583" cy="7583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19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0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8(B)</a:t>
              </a:r>
            </a:p>
          </p:txBody>
        </p:sp>
      </p:grpSp>
      <p:grpSp>
        <p:nvGrpSpPr>
          <p:cNvPr id="424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22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3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27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25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6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30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28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9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33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31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2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36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34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5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39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37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8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42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40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1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45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43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4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46" name="Freeform 34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Freeform 36"/>
          <p:cNvSpPr/>
          <p:nvPr/>
        </p:nvSpPr>
        <p:spPr>
          <a:xfrm>
            <a:off x="17170669" y="-178579"/>
            <a:ext cx="10994425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Box 42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49" name="Screenshot 2026-04-22 at 1.15.34 AM.png" descr="Screenshot 2026-04-22 at 1.15.34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96796" y="1643628"/>
            <a:ext cx="11760016" cy="73500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roup 7"/>
          <p:cNvGrpSpPr/>
          <p:nvPr/>
        </p:nvGrpSpPr>
        <p:grpSpPr>
          <a:xfrm>
            <a:off x="735587" y="6653893"/>
            <a:ext cx="992464" cy="992464"/>
            <a:chOff x="0" y="0"/>
            <a:chExt cx="992462" cy="992462"/>
          </a:xfrm>
        </p:grpSpPr>
        <p:sp>
          <p:nvSpPr>
            <p:cNvPr id="451" name="Freeform 8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2" name="TextBox 9"/>
            <p:cNvSpPr txBox="1"/>
            <p:nvPr/>
          </p:nvSpPr>
          <p:spPr>
            <a:xfrm>
              <a:off x="93043" y="187530"/>
              <a:ext cx="806377" cy="547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b="1" sz="240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8(C)</a:t>
              </a:r>
            </a:p>
          </p:txBody>
        </p:sp>
      </p:grpSp>
      <p:grpSp>
        <p:nvGrpSpPr>
          <p:cNvPr id="456" name="Group 10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54" name="Freeform 1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5" name="TextBox 1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59" name="Group 13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57" name="Freeform 1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8" name="TextBox 1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62" name="Group 16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60" name="Freeform 1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1" name="TextBox 1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65" name="Group 19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63" name="Freeform 2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4" name="TextBox 2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68" name="Group 22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66" name="Freeform 23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7" name="TextBox 24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71" name="Group 25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469" name="Freeform 26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0" name="TextBox 27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474" name="Group 28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472" name="Freeform 2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3" name="TextBox 3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477" name="Group 31"/>
          <p:cNvGrpSpPr/>
          <p:nvPr/>
        </p:nvGrpSpPr>
        <p:grpSpPr>
          <a:xfrm>
            <a:off x="977740" y="7760845"/>
            <a:ext cx="508159" cy="543806"/>
            <a:chOff x="0" y="0"/>
            <a:chExt cx="508157" cy="543804"/>
          </a:xfrm>
        </p:grpSpPr>
        <p:sp>
          <p:nvSpPr>
            <p:cNvPr id="475" name="Freeform 3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6" name="TextBox 3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sp>
        <p:nvSpPr>
          <p:cNvPr id="478" name="Freeform 34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Freeform 36"/>
          <p:cNvSpPr/>
          <p:nvPr/>
        </p:nvSpPr>
        <p:spPr>
          <a:xfrm>
            <a:off x="17170669" y="-178579"/>
            <a:ext cx="10994425" cy="10994424"/>
          </a:xfrm>
          <a:prstGeom prst="ellipse">
            <a:avLst/>
          </a:prstGeom>
          <a:ln w="514350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Box 42"/>
          <p:cNvSpPr txBox="1"/>
          <p:nvPr/>
        </p:nvSpPr>
        <p:spPr>
          <a:xfrm>
            <a:off x="198120" y="342899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 SCREENSHOTS</a:t>
            </a:r>
          </a:p>
        </p:txBody>
      </p:sp>
      <p:pic>
        <p:nvPicPr>
          <p:cNvPr id="481" name="Screenshot 2026-04-22 at 1.17.13 AM.png" descr="Screenshot 2026-04-22 at 1.17.1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66386" y="1866527"/>
            <a:ext cx="11508774" cy="71929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roup 5"/>
          <p:cNvGrpSpPr/>
          <p:nvPr/>
        </p:nvGrpSpPr>
        <p:grpSpPr>
          <a:xfrm>
            <a:off x="735587" y="7321525"/>
            <a:ext cx="992464" cy="992464"/>
            <a:chOff x="0" y="0"/>
            <a:chExt cx="992462" cy="992462"/>
          </a:xfrm>
        </p:grpSpPr>
        <p:sp>
          <p:nvSpPr>
            <p:cNvPr id="483" name="Freeform 6"/>
            <p:cNvSpPr/>
            <p:nvPr/>
          </p:nvSpPr>
          <p:spPr>
            <a:xfrm>
              <a:off x="0" y="0"/>
              <a:ext cx="992463" cy="992463"/>
            </a:xfrm>
            <a:prstGeom prst="ellipse">
              <a:avLst/>
            </a:prstGeom>
            <a:solidFill>
              <a:srgbClr val="FD62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4" name="TextBox 7"/>
            <p:cNvSpPr txBox="1"/>
            <p:nvPr/>
          </p:nvSpPr>
          <p:spPr>
            <a:xfrm>
              <a:off x="93043" y="184610"/>
              <a:ext cx="806377" cy="5534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3700"/>
                </a:lnSpc>
                <a:defRPr sz="26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488" name="Group 8"/>
          <p:cNvGrpSpPr/>
          <p:nvPr/>
        </p:nvGrpSpPr>
        <p:grpSpPr>
          <a:xfrm>
            <a:off x="977740" y="3315742"/>
            <a:ext cx="508159" cy="543806"/>
            <a:chOff x="0" y="0"/>
            <a:chExt cx="508157" cy="543804"/>
          </a:xfrm>
        </p:grpSpPr>
        <p:sp>
          <p:nvSpPr>
            <p:cNvPr id="486" name="Freeform 9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7" name="TextBox 10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491" name="Group 11"/>
          <p:cNvGrpSpPr/>
          <p:nvPr/>
        </p:nvGrpSpPr>
        <p:grpSpPr>
          <a:xfrm>
            <a:off x="977740" y="1982348"/>
            <a:ext cx="508159" cy="543806"/>
            <a:chOff x="0" y="0"/>
            <a:chExt cx="508157" cy="543804"/>
          </a:xfrm>
        </p:grpSpPr>
        <p:sp>
          <p:nvSpPr>
            <p:cNvPr id="489" name="Freeform 12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0" name="TextBox 13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94" name="Group 14"/>
          <p:cNvGrpSpPr/>
          <p:nvPr/>
        </p:nvGrpSpPr>
        <p:grpSpPr>
          <a:xfrm>
            <a:off x="977740" y="3983373"/>
            <a:ext cx="508159" cy="543806"/>
            <a:chOff x="0" y="0"/>
            <a:chExt cx="508157" cy="543804"/>
          </a:xfrm>
        </p:grpSpPr>
        <p:sp>
          <p:nvSpPr>
            <p:cNvPr id="492" name="Freeform 15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3" name="TextBox 16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497" name="Group 17"/>
          <p:cNvGrpSpPr/>
          <p:nvPr/>
        </p:nvGrpSpPr>
        <p:grpSpPr>
          <a:xfrm>
            <a:off x="977740" y="2648112"/>
            <a:ext cx="508159" cy="543806"/>
            <a:chOff x="0" y="0"/>
            <a:chExt cx="508157" cy="543804"/>
          </a:xfrm>
        </p:grpSpPr>
        <p:sp>
          <p:nvSpPr>
            <p:cNvPr id="495" name="Freeform 18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6" name="TextBox 19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500" name="Group 20"/>
          <p:cNvGrpSpPr/>
          <p:nvPr/>
        </p:nvGrpSpPr>
        <p:grpSpPr>
          <a:xfrm>
            <a:off x="977740" y="5318633"/>
            <a:ext cx="508159" cy="543806"/>
            <a:chOff x="0" y="0"/>
            <a:chExt cx="508157" cy="543804"/>
          </a:xfrm>
        </p:grpSpPr>
        <p:sp>
          <p:nvSpPr>
            <p:cNvPr id="498" name="Freeform 21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9" name="TextBox 22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503" name="Group 23"/>
          <p:cNvGrpSpPr/>
          <p:nvPr/>
        </p:nvGrpSpPr>
        <p:grpSpPr>
          <a:xfrm>
            <a:off x="977740" y="4651002"/>
            <a:ext cx="508159" cy="543806"/>
            <a:chOff x="0" y="0"/>
            <a:chExt cx="508157" cy="543804"/>
          </a:xfrm>
        </p:grpSpPr>
        <p:sp>
          <p:nvSpPr>
            <p:cNvPr id="501" name="Freeform 24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2" name="TextBox 25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506" name="Group 26"/>
          <p:cNvGrpSpPr/>
          <p:nvPr/>
        </p:nvGrpSpPr>
        <p:grpSpPr>
          <a:xfrm>
            <a:off x="977740" y="5986264"/>
            <a:ext cx="508159" cy="543806"/>
            <a:chOff x="0" y="0"/>
            <a:chExt cx="508157" cy="543804"/>
          </a:xfrm>
        </p:grpSpPr>
        <p:sp>
          <p:nvSpPr>
            <p:cNvPr id="504" name="Freeform 27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5" name="TextBox 28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509" name="Group 29"/>
          <p:cNvGrpSpPr/>
          <p:nvPr/>
        </p:nvGrpSpPr>
        <p:grpSpPr>
          <a:xfrm>
            <a:off x="977740" y="6653893"/>
            <a:ext cx="508159" cy="543806"/>
            <a:chOff x="0" y="0"/>
            <a:chExt cx="508157" cy="543804"/>
          </a:xfrm>
        </p:grpSpPr>
        <p:sp>
          <p:nvSpPr>
            <p:cNvPr id="507" name="Freeform 30"/>
            <p:cNvSpPr/>
            <p:nvPr/>
          </p:nvSpPr>
          <p:spPr>
            <a:xfrm>
              <a:off x="0" y="0"/>
              <a:ext cx="508158" cy="543805"/>
            </a:xfrm>
            <a:prstGeom prst="ellipse">
              <a:avLst/>
            </a:pr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8" name="TextBox 31"/>
            <p:cNvSpPr txBox="1"/>
            <p:nvPr/>
          </p:nvSpPr>
          <p:spPr>
            <a:xfrm>
              <a:off x="47639" y="70503"/>
              <a:ext cx="412879" cy="3849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ctr">
                <a:lnSpc>
                  <a:spcPts val="2300"/>
                </a:lnSpc>
                <a:defRPr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510" name="Freeform 32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Freeform 45"/>
          <p:cNvSpPr/>
          <p:nvPr/>
        </p:nvSpPr>
        <p:spPr>
          <a:xfrm>
            <a:off x="16786359" y="-353712"/>
            <a:ext cx="10994425" cy="10994424"/>
          </a:xfrm>
          <a:prstGeom prst="ellipse">
            <a:avLst/>
          </a:prstGeom>
          <a:ln w="619125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12" name="TextBox 1"/>
          <p:cNvSpPr txBox="1"/>
          <p:nvPr/>
        </p:nvSpPr>
        <p:spPr>
          <a:xfrm>
            <a:off x="236220" y="290492"/>
            <a:ext cx="17815561" cy="764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ADVANTAGES &amp; LIMITATIONS</a:t>
            </a:r>
          </a:p>
        </p:txBody>
      </p:sp>
      <p:sp>
        <p:nvSpPr>
          <p:cNvPr id="513" name="Advantages:…"/>
          <p:cNvSpPr txBox="1"/>
          <p:nvPr/>
        </p:nvSpPr>
        <p:spPr>
          <a:xfrm>
            <a:off x="2551369" y="1208783"/>
            <a:ext cx="13776565" cy="777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spcBef>
                <a:spcPts val="1400"/>
              </a:spcBef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Advantages: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Centralized platform for managing all event-related activities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Reduces manual work and paperwork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Easy and quick online registration and payment process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Accurate attendance tracking with minimal errors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Automatic certificate generation, saving time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Improves transparency between students and admin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User-friendly interface for better experience</a:t>
            </a:r>
          </a:p>
          <a:p>
            <a:pPr defTabSz="457200">
              <a:defRPr sz="30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defTabSz="457200">
              <a:spcBef>
                <a:spcPts val="1400"/>
              </a:spcBef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/>
              <a:t>Disadvantages: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Requires internet connectivity to access the system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Initial setup and development cost can be high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Dependency on system reliability (server downtime issues)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Requires basic technical knowledge for admin usage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Security risks if proper data protection is not implemented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Freeform 32"/>
          <p:cNvSpPr/>
          <p:nvPr/>
        </p:nvSpPr>
        <p:spPr>
          <a:xfrm>
            <a:off x="16313419" y="1028700"/>
            <a:ext cx="945881" cy="23647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TextBox 43"/>
          <p:cNvSpPr txBox="1"/>
          <p:nvPr/>
        </p:nvSpPr>
        <p:spPr>
          <a:xfrm>
            <a:off x="3200400" y="4486171"/>
            <a:ext cx="11159653" cy="1350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100"/>
              </a:lnSpc>
              <a:defRPr b="1" i="1" sz="1110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17" name="Freeform 45"/>
          <p:cNvSpPr/>
          <p:nvPr/>
        </p:nvSpPr>
        <p:spPr>
          <a:xfrm>
            <a:off x="16786359" y="-353712"/>
            <a:ext cx="10994425" cy="10994424"/>
          </a:xfrm>
          <a:prstGeom prst="ellipse">
            <a:avLst/>
          </a:prstGeom>
          <a:ln w="619125" cap="sq">
            <a:solidFill>
              <a:srgbClr val="FD6220">
                <a:alpha val="11765"/>
              </a:srgbClr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