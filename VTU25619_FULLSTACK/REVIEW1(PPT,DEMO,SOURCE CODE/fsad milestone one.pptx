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sz="quarter"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quarter"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quarter"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94" name="Freeform 11"/>
          <p:cNvSpPr/>
          <p:nvPr/>
        </p:nvSpPr>
        <p:spPr>
          <a:xfrm>
            <a:off x="11762088" y="-9632634"/>
            <a:ext cx="10994425" cy="10994425"/>
          </a:xfrm>
          <a:prstGeom prst="ellipse">
            <a:avLst/>
          </a:prstGeom>
          <a:ln w="514350" cap="sq">
            <a:solidFill>
              <a:srgbClr val="FD6220">
                <a:alpha val="11765"/>
              </a:srgbClr>
            </a:solidFill>
            <a:miter/>
          </a:ln>
        </p:spPr>
        <p:txBody>
          <a:bodyPr lIns="45719" rIns="45719"/>
          <a:lstStyle/>
          <a:p>
            <a:pPr/>
          </a:p>
        </p:txBody>
      </p:sp>
      <p:sp>
        <p:nvSpPr>
          <p:cNvPr id="95" name="Freeform 20"/>
          <p:cNvSpPr/>
          <p:nvPr/>
        </p:nvSpPr>
        <p:spPr>
          <a:xfrm>
            <a:off x="-9965724" y="-1383136"/>
            <a:ext cx="10994424" cy="10994424"/>
          </a:xfrm>
          <a:prstGeom prst="ellipse">
            <a:avLst/>
          </a:prstGeom>
          <a:ln w="514350" cap="sq">
            <a:solidFill>
              <a:srgbClr val="FD6220">
                <a:alpha val="11765"/>
              </a:srgbClr>
            </a:solidFill>
            <a:miter/>
          </a:ln>
        </p:spPr>
        <p:txBody>
          <a:bodyPr lIns="45719" rIns="45719"/>
          <a:lstStyle/>
          <a:p>
            <a:pPr/>
          </a:p>
        </p:txBody>
      </p:sp>
      <p:pic>
        <p:nvPicPr>
          <p:cNvPr id="96" name="Picture 22" descr="Picture 22"/>
          <p:cNvPicPr>
            <a:picLocks noChangeAspect="1"/>
          </p:cNvPicPr>
          <p:nvPr/>
        </p:nvPicPr>
        <p:blipFill>
          <a:blip r:embed="rId2">
            <a:extLst/>
          </a:blip>
          <a:stretch>
            <a:fillRect/>
          </a:stretch>
        </p:blipFill>
        <p:spPr>
          <a:xfrm>
            <a:off x="6610443" y="196688"/>
            <a:ext cx="4752248" cy="1360613"/>
          </a:xfrm>
          <a:prstGeom prst="rect">
            <a:avLst/>
          </a:prstGeom>
          <a:ln w="12700">
            <a:miter lim="400000"/>
          </a:ln>
        </p:spPr>
      </p:pic>
      <p:sp>
        <p:nvSpPr>
          <p:cNvPr id="97" name="TextBox 23"/>
          <p:cNvSpPr txBox="1"/>
          <p:nvPr/>
        </p:nvSpPr>
        <p:spPr>
          <a:xfrm>
            <a:off x="1405721" y="1608481"/>
            <a:ext cx="15834361" cy="1564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200">
                <a:latin typeface="Cambria"/>
                <a:ea typeface="Cambria"/>
                <a:cs typeface="Cambria"/>
                <a:sym typeface="Cambria"/>
              </a:defRPr>
            </a:pPr>
            <a:r>
              <a:t>Vel Tech Rangarajan Dr. Sagunthala R&amp;D Institute of Science and Technology</a:t>
            </a:r>
          </a:p>
          <a:p>
            <a:pPr algn="ctr">
              <a:defRPr sz="3600">
                <a:latin typeface="Cambria"/>
                <a:ea typeface="Cambria"/>
                <a:cs typeface="Cambria"/>
                <a:sym typeface="Cambria"/>
              </a:defRPr>
            </a:pPr>
            <a:r>
              <a:t>School of Computing </a:t>
            </a:r>
          </a:p>
          <a:p>
            <a:pPr algn="ctr">
              <a:defRPr sz="3200">
                <a:latin typeface="Cambria"/>
                <a:ea typeface="Cambria"/>
                <a:cs typeface="Cambria"/>
                <a:sym typeface="Cambria"/>
              </a:defRPr>
            </a:pPr>
            <a:r>
              <a:t>Department of Computer Science and Engineering</a:t>
            </a:r>
          </a:p>
        </p:txBody>
      </p:sp>
      <p:sp>
        <p:nvSpPr>
          <p:cNvPr id="98" name="TextBox 25"/>
          <p:cNvSpPr txBox="1"/>
          <p:nvPr/>
        </p:nvSpPr>
        <p:spPr>
          <a:xfrm>
            <a:off x="1738554" y="3272356"/>
            <a:ext cx="15168697"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solidFill>
                  <a:srgbClr val="0033CC"/>
                </a:solidFill>
                <a:latin typeface="Bookman Old Style"/>
                <a:ea typeface="Bookman Old Style"/>
                <a:cs typeface="Bookman Old Style"/>
                <a:sym typeface="Bookman Old Style"/>
              </a:defRPr>
            </a:lvl1pPr>
          </a:lstStyle>
          <a:p>
            <a:pPr/>
            <a:r>
              <a:t>10211CS224 / FULL STACK APPLICATION DEVELOPMENT (JAVA)</a:t>
            </a:r>
          </a:p>
        </p:txBody>
      </p:sp>
      <p:sp>
        <p:nvSpPr>
          <p:cNvPr id="99" name="TextBox 26"/>
          <p:cNvSpPr txBox="1"/>
          <p:nvPr/>
        </p:nvSpPr>
        <p:spPr>
          <a:xfrm>
            <a:off x="3773476" y="3897939"/>
            <a:ext cx="11098850" cy="167668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3600">
                <a:solidFill>
                  <a:srgbClr val="C00000"/>
                </a:solidFill>
                <a:latin typeface="Arial"/>
                <a:ea typeface="Arial"/>
                <a:cs typeface="Arial"/>
                <a:sym typeface="Arial"/>
              </a:defRPr>
            </a:pPr>
            <a:r>
              <a:t>PROJECT REVIEW : MILESTONE PROJECT – 1</a:t>
            </a:r>
          </a:p>
          <a:p>
            <a:pPr algn="ctr">
              <a:defRPr b="1" sz="3600">
                <a:solidFill>
                  <a:srgbClr val="C00000"/>
                </a:solidFill>
                <a:latin typeface="Arial"/>
                <a:ea typeface="Arial"/>
                <a:cs typeface="Arial"/>
                <a:sym typeface="Arial"/>
              </a:defRPr>
            </a:pPr>
          </a:p>
          <a:p>
            <a:pPr algn="ctr">
              <a:defRPr b="1" sz="3600">
                <a:solidFill>
                  <a:srgbClr val="C00000"/>
                </a:solidFill>
                <a:latin typeface="Arial"/>
                <a:ea typeface="Arial"/>
                <a:cs typeface="Arial"/>
                <a:sym typeface="Arial"/>
              </a:defRPr>
            </a:pPr>
            <a:r>
              <a:t>Date:25-03-2026</a:t>
            </a:r>
          </a:p>
        </p:txBody>
      </p:sp>
      <p:sp>
        <p:nvSpPr>
          <p:cNvPr id="100" name="TextBox 12"/>
          <p:cNvSpPr txBox="1"/>
          <p:nvPr/>
        </p:nvSpPr>
        <p:spPr>
          <a:xfrm>
            <a:off x="1547359" y="6057899"/>
            <a:ext cx="15692724"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68">
                <a:latin typeface="Bookman Old Style"/>
                <a:ea typeface="Bookman Old Style"/>
                <a:cs typeface="Bookman Old Style"/>
                <a:sym typeface="Bookman Old Style"/>
              </a:defRPr>
            </a:lvl1pPr>
          </a:lstStyle>
          <a:p>
            <a:pPr/>
            <a:r>
              <a:t>                    End-to-End Event Lifecycle &amp; Ticketing Platform</a:t>
            </a:r>
          </a:p>
        </p:txBody>
      </p:sp>
      <p:sp>
        <p:nvSpPr>
          <p:cNvPr id="101" name="TextBox 13"/>
          <p:cNvSpPr txBox="1"/>
          <p:nvPr/>
        </p:nvSpPr>
        <p:spPr>
          <a:xfrm>
            <a:off x="479307" y="7800539"/>
            <a:ext cx="9436643" cy="123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Presented By:</a:t>
            </a:r>
          </a:p>
          <a:p>
            <a:pPr>
              <a:lnSpc>
                <a:spcPct val="150000"/>
              </a:lnSpc>
              <a:defRPr sz="3000">
                <a:latin typeface="Cambria"/>
                <a:ea typeface="Cambria"/>
                <a:cs typeface="Cambria"/>
                <a:sym typeface="Cambria"/>
              </a:defRPr>
            </a:pPr>
            <a:r>
              <a:t>CH.VENNELA REDDY– VTU25619– Reg.No.23UECS0956</a:t>
            </a:r>
          </a:p>
        </p:txBody>
      </p:sp>
      <p:sp>
        <p:nvSpPr>
          <p:cNvPr id="102" name="TextBox 14"/>
          <p:cNvSpPr txBox="1"/>
          <p:nvPr/>
        </p:nvSpPr>
        <p:spPr>
          <a:xfrm>
            <a:off x="11523932" y="7853597"/>
            <a:ext cx="6823163" cy="1221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3000">
                <a:latin typeface="Cambria"/>
                <a:ea typeface="Cambria"/>
                <a:cs typeface="Cambria"/>
                <a:sym typeface="Cambria"/>
              </a:defRPr>
            </a:pPr>
            <a:r>
              <a:t>Courses Handling Faculty:</a:t>
            </a:r>
          </a:p>
          <a:p>
            <a: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000">
                <a:latin typeface="Bookman Old Style"/>
                <a:ea typeface="Bookman Old Style"/>
                <a:cs typeface="Bookman Old Style"/>
                <a:sym typeface="Bookman Old Style"/>
              </a:defRPr>
            </a:pPr>
            <a:r>
              <a:t>Dr.S.Hemamalini</a:t>
            </a:r>
          </a:p>
        </p:txBody>
      </p:sp>
      <p:sp>
        <p:nvSpPr>
          <p:cNvPr id="103" name="TextBox 15"/>
          <p:cNvSpPr txBox="1"/>
          <p:nvPr/>
        </p:nvSpPr>
        <p:spPr>
          <a:xfrm>
            <a:off x="2255520" y="6972299"/>
            <a:ext cx="14651730"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defTabSz="457200">
              <a:defRPr sz="2200">
                <a:latin typeface="Times Roman"/>
                <a:ea typeface="Times Roman"/>
                <a:cs typeface="Times Roman"/>
                <a:sym typeface="Times Roman"/>
              </a:defRPr>
            </a:lvl1pPr>
          </a:lstStyle>
          <a:p>
            <a:pPr/>
            <a:r>
              <a:t>SDG: SDG 9 – Industry, Innovation and Infrastructure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105" name="Freeform 8"/>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grpSp>
        <p:nvGrpSpPr>
          <p:cNvPr id="108" name="Group 9"/>
          <p:cNvGrpSpPr/>
          <p:nvPr/>
        </p:nvGrpSpPr>
        <p:grpSpPr>
          <a:xfrm>
            <a:off x="706081" y="1952202"/>
            <a:ext cx="992464" cy="992464"/>
            <a:chOff x="0" y="0"/>
            <a:chExt cx="992462" cy="992462"/>
          </a:xfrm>
        </p:grpSpPr>
        <p:sp>
          <p:nvSpPr>
            <p:cNvPr id="106" name="Freeform 1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07" name="TextBox 1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1</a:t>
              </a:r>
            </a:p>
          </p:txBody>
        </p:sp>
      </p:grpSp>
      <p:grpSp>
        <p:nvGrpSpPr>
          <p:cNvPr id="111" name="Group 12"/>
          <p:cNvGrpSpPr/>
          <p:nvPr/>
        </p:nvGrpSpPr>
        <p:grpSpPr>
          <a:xfrm>
            <a:off x="948235" y="4447339"/>
            <a:ext cx="508159" cy="543806"/>
            <a:chOff x="0" y="0"/>
            <a:chExt cx="508157" cy="543804"/>
          </a:xfrm>
        </p:grpSpPr>
        <p:sp>
          <p:nvSpPr>
            <p:cNvPr id="109" name="Freeform 1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0" name="TextBox 1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14" name="Group 15"/>
          <p:cNvGrpSpPr/>
          <p:nvPr/>
        </p:nvGrpSpPr>
        <p:grpSpPr>
          <a:xfrm>
            <a:off x="948235" y="3107362"/>
            <a:ext cx="508159" cy="543806"/>
            <a:chOff x="0" y="0"/>
            <a:chExt cx="508157" cy="543804"/>
          </a:xfrm>
        </p:grpSpPr>
        <p:sp>
          <p:nvSpPr>
            <p:cNvPr id="112" name="Freeform 1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3" name="TextBox 1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17" name="Group 18"/>
          <p:cNvGrpSpPr/>
          <p:nvPr/>
        </p:nvGrpSpPr>
        <p:grpSpPr>
          <a:xfrm>
            <a:off x="948235" y="5115752"/>
            <a:ext cx="508159" cy="543806"/>
            <a:chOff x="0" y="0"/>
            <a:chExt cx="508157" cy="543804"/>
          </a:xfrm>
        </p:grpSpPr>
        <p:sp>
          <p:nvSpPr>
            <p:cNvPr id="115" name="Freeform 1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6" name="TextBox 2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20" name="Group 21"/>
          <p:cNvGrpSpPr/>
          <p:nvPr/>
        </p:nvGrpSpPr>
        <p:grpSpPr>
          <a:xfrm>
            <a:off x="948235" y="3776486"/>
            <a:ext cx="508159" cy="543806"/>
            <a:chOff x="0" y="0"/>
            <a:chExt cx="508157" cy="543804"/>
          </a:xfrm>
        </p:grpSpPr>
        <p:sp>
          <p:nvSpPr>
            <p:cNvPr id="118" name="Freeform 2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19" name="TextBox 2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23" name="Group 24"/>
          <p:cNvGrpSpPr/>
          <p:nvPr/>
        </p:nvGrpSpPr>
        <p:grpSpPr>
          <a:xfrm>
            <a:off x="948235" y="6455729"/>
            <a:ext cx="508159" cy="543806"/>
            <a:chOff x="0" y="0"/>
            <a:chExt cx="508157" cy="543804"/>
          </a:xfrm>
        </p:grpSpPr>
        <p:sp>
          <p:nvSpPr>
            <p:cNvPr id="121" name="Freeform 2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2" name="TextBox 2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26" name="Group 27"/>
          <p:cNvGrpSpPr/>
          <p:nvPr/>
        </p:nvGrpSpPr>
        <p:grpSpPr>
          <a:xfrm>
            <a:off x="948235" y="5784877"/>
            <a:ext cx="508159" cy="543806"/>
            <a:chOff x="0" y="0"/>
            <a:chExt cx="508157" cy="543804"/>
          </a:xfrm>
        </p:grpSpPr>
        <p:sp>
          <p:nvSpPr>
            <p:cNvPr id="124" name="Freeform 2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5" name="TextBox 2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29" name="Group 36"/>
          <p:cNvGrpSpPr/>
          <p:nvPr/>
        </p:nvGrpSpPr>
        <p:grpSpPr>
          <a:xfrm>
            <a:off x="948235" y="7123361"/>
            <a:ext cx="508159" cy="543806"/>
            <a:chOff x="0" y="0"/>
            <a:chExt cx="508157" cy="543804"/>
          </a:xfrm>
        </p:grpSpPr>
        <p:sp>
          <p:nvSpPr>
            <p:cNvPr id="127"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28"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32" name="Group 39"/>
          <p:cNvGrpSpPr/>
          <p:nvPr/>
        </p:nvGrpSpPr>
        <p:grpSpPr>
          <a:xfrm>
            <a:off x="948235" y="7790991"/>
            <a:ext cx="508159" cy="543806"/>
            <a:chOff x="0" y="0"/>
            <a:chExt cx="508157" cy="543804"/>
          </a:xfrm>
        </p:grpSpPr>
        <p:sp>
          <p:nvSpPr>
            <p:cNvPr id="130"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31"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33" name="TextBox 1"/>
          <p:cNvSpPr txBox="1"/>
          <p:nvPr/>
        </p:nvSpPr>
        <p:spPr>
          <a:xfrm>
            <a:off x="198119" y="342899"/>
            <a:ext cx="180441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INTRODUCTION</a:t>
            </a:r>
          </a:p>
        </p:txBody>
      </p:sp>
      <p:sp>
        <p:nvSpPr>
          <p:cNvPr id="134" name="TextBox 2"/>
          <p:cNvSpPr txBox="1"/>
          <p:nvPr/>
        </p:nvSpPr>
        <p:spPr>
          <a:xfrm>
            <a:off x="2255519" y="1638300"/>
            <a:ext cx="14990886" cy="117603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just">
              <a:spcBef>
                <a:spcPts val="3000"/>
              </a:spcBef>
              <a:defRPr sz="2800">
                <a:latin typeface="Times New Roman"/>
                <a:ea typeface="Times New Roman"/>
                <a:cs typeface="Times New Roman"/>
                <a:sym typeface="Times New Roman"/>
              </a:defRPr>
            </a:pPr>
            <a:r>
              <a:t>1. Managing event tickets manually is difficult and time-consuming.</a:t>
            </a:r>
          </a:p>
          <a:p>
            <a:pPr algn="just">
              <a:spcBef>
                <a:spcPts val="3000"/>
              </a:spcBef>
              <a:defRPr sz="2800">
                <a:latin typeface="Times New Roman"/>
                <a:ea typeface="Times New Roman"/>
                <a:cs typeface="Times New Roman"/>
                <a:sym typeface="Times New Roman"/>
              </a:defRPr>
            </a:pPr>
            <a:r>
              <a:t>2. Users often struggle to find all events in one place.</a:t>
            </a:r>
          </a:p>
          <a:p>
            <a:pPr algn="just">
              <a:spcBef>
                <a:spcPts val="3000"/>
              </a:spcBef>
              <a:defRPr sz="2800">
                <a:latin typeface="Times New Roman"/>
                <a:ea typeface="Times New Roman"/>
                <a:cs typeface="Times New Roman"/>
                <a:sym typeface="Times New Roman"/>
              </a:defRPr>
            </a:pPr>
            <a:r>
              <a:t>3. Booking systems without seat selection are not user-friendly.</a:t>
            </a:r>
          </a:p>
          <a:p>
            <a:pPr algn="just">
              <a:spcBef>
                <a:spcPts val="3000"/>
              </a:spcBef>
              <a:defRPr sz="2800">
                <a:latin typeface="Times New Roman"/>
                <a:ea typeface="Times New Roman"/>
                <a:cs typeface="Times New Roman"/>
                <a:sym typeface="Times New Roman"/>
              </a:defRPr>
            </a:pPr>
            <a:r>
              <a:t>4. This project provides a single platform for event discovery and booking.</a:t>
            </a:r>
          </a:p>
          <a:p>
            <a:pPr algn="just">
              <a:spcBef>
                <a:spcPts val="3000"/>
              </a:spcBef>
              <a:defRPr sz="2800">
                <a:latin typeface="Times New Roman"/>
                <a:ea typeface="Times New Roman"/>
                <a:cs typeface="Times New Roman"/>
                <a:sym typeface="Times New Roman"/>
              </a:defRPr>
            </a:pPr>
            <a:r>
              <a:t>5. It allows users to select seats and book tickets easily.</a:t>
            </a:r>
          </a:p>
          <a:p>
            <a:pPr algn="just">
              <a:spcBef>
                <a:spcPts val="3000"/>
              </a:spcBef>
              <a:defRPr sz="2800">
                <a:latin typeface="Times New Roman"/>
                <a:ea typeface="Times New Roman"/>
                <a:cs typeface="Times New Roman"/>
                <a:sym typeface="Times New Roman"/>
              </a:defRPr>
            </a:pPr>
            <a:r>
              <a:t>6. Organizers can manage events and track bookings efficiently.</a:t>
            </a:r>
          </a:p>
          <a:p>
            <a:pPr algn="just">
              <a:spcBef>
                <a:spcPts val="3000"/>
              </a:spcBef>
              <a:defRPr sz="2800">
                <a:latin typeface="Times New Roman"/>
                <a:ea typeface="Times New Roman"/>
                <a:cs typeface="Times New Roman"/>
                <a:sym typeface="Times New Roman"/>
              </a:defRPr>
            </a:pPr>
            <a:r>
              <a:t>7. The system is useful in real-world applications like concerts, fests, and shows.</a:t>
            </a:r>
          </a:p>
          <a:p>
            <a:pPr algn="just">
              <a:spcBef>
                <a:spcPts val="3000"/>
              </a:spcBef>
              <a:defRPr sz="2800">
                <a:latin typeface="Times New Roman"/>
                <a:ea typeface="Times New Roman"/>
                <a:cs typeface="Times New Roman"/>
                <a:sym typeface="Times New Roman"/>
              </a:defRPr>
            </a:pPr>
            <a:r>
              <a:t>8. Overall, it simplifies the complete event ticketing process for users and organizers.</a:t>
            </a:r>
          </a:p>
          <a:p>
            <a:pP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a:p>
            <a:pPr marL="457200" indent="-457200">
              <a:buSzPct val="100000"/>
              <a:buChar char="-"/>
              <a:defRPr sz="2800">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136"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grpSp>
        <p:nvGrpSpPr>
          <p:cNvPr id="139" name="Group 11"/>
          <p:cNvGrpSpPr/>
          <p:nvPr/>
        </p:nvGrpSpPr>
        <p:grpSpPr>
          <a:xfrm>
            <a:off x="709356" y="2648112"/>
            <a:ext cx="992464" cy="992463"/>
            <a:chOff x="0" y="0"/>
            <a:chExt cx="992462" cy="992462"/>
          </a:xfrm>
        </p:grpSpPr>
        <p:sp>
          <p:nvSpPr>
            <p:cNvPr id="137" name="Freeform 12"/>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38" name="TextBox 13"/>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2</a:t>
              </a:r>
            </a:p>
          </p:txBody>
        </p:sp>
      </p:grpSp>
      <p:grpSp>
        <p:nvGrpSpPr>
          <p:cNvPr id="142" name="Group 14"/>
          <p:cNvGrpSpPr/>
          <p:nvPr/>
        </p:nvGrpSpPr>
        <p:grpSpPr>
          <a:xfrm>
            <a:off x="951508" y="4428295"/>
            <a:ext cx="508159" cy="543806"/>
            <a:chOff x="0" y="0"/>
            <a:chExt cx="508157" cy="543804"/>
          </a:xfrm>
        </p:grpSpPr>
        <p:sp>
          <p:nvSpPr>
            <p:cNvPr id="140"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1"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45" name="Group 17"/>
          <p:cNvGrpSpPr/>
          <p:nvPr/>
        </p:nvGrpSpPr>
        <p:grpSpPr>
          <a:xfrm>
            <a:off x="951508" y="1982348"/>
            <a:ext cx="508159" cy="543806"/>
            <a:chOff x="0" y="0"/>
            <a:chExt cx="508157" cy="543804"/>
          </a:xfrm>
        </p:grpSpPr>
        <p:sp>
          <p:nvSpPr>
            <p:cNvPr id="143"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4"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48" name="Group 20"/>
          <p:cNvGrpSpPr/>
          <p:nvPr/>
        </p:nvGrpSpPr>
        <p:grpSpPr>
          <a:xfrm>
            <a:off x="951508" y="5094058"/>
            <a:ext cx="508159" cy="543806"/>
            <a:chOff x="0" y="0"/>
            <a:chExt cx="508157" cy="543804"/>
          </a:xfrm>
        </p:grpSpPr>
        <p:sp>
          <p:nvSpPr>
            <p:cNvPr id="146"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47"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51" name="Group 23"/>
          <p:cNvGrpSpPr/>
          <p:nvPr/>
        </p:nvGrpSpPr>
        <p:grpSpPr>
          <a:xfrm>
            <a:off x="951508" y="3762533"/>
            <a:ext cx="508159" cy="543806"/>
            <a:chOff x="0" y="0"/>
            <a:chExt cx="508157" cy="543804"/>
          </a:xfrm>
        </p:grpSpPr>
        <p:sp>
          <p:nvSpPr>
            <p:cNvPr id="149"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0"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154" name="Group 26"/>
          <p:cNvGrpSpPr/>
          <p:nvPr/>
        </p:nvGrpSpPr>
        <p:grpSpPr>
          <a:xfrm>
            <a:off x="951508" y="6425584"/>
            <a:ext cx="508159" cy="543806"/>
            <a:chOff x="0" y="0"/>
            <a:chExt cx="508157" cy="543804"/>
          </a:xfrm>
        </p:grpSpPr>
        <p:sp>
          <p:nvSpPr>
            <p:cNvPr id="152"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3"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57" name="Group 29"/>
          <p:cNvGrpSpPr/>
          <p:nvPr/>
        </p:nvGrpSpPr>
        <p:grpSpPr>
          <a:xfrm>
            <a:off x="951508" y="5759822"/>
            <a:ext cx="508159" cy="543806"/>
            <a:chOff x="0" y="0"/>
            <a:chExt cx="508157" cy="543804"/>
          </a:xfrm>
        </p:grpSpPr>
        <p:sp>
          <p:nvSpPr>
            <p:cNvPr id="155"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6"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60" name="Group 36"/>
          <p:cNvGrpSpPr/>
          <p:nvPr/>
        </p:nvGrpSpPr>
        <p:grpSpPr>
          <a:xfrm>
            <a:off x="951508" y="7093215"/>
            <a:ext cx="508159" cy="543806"/>
            <a:chOff x="0" y="0"/>
            <a:chExt cx="508157" cy="543804"/>
          </a:xfrm>
        </p:grpSpPr>
        <p:sp>
          <p:nvSpPr>
            <p:cNvPr id="158" name="Freeform 3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59" name="TextBox 3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63" name="Group 39"/>
          <p:cNvGrpSpPr/>
          <p:nvPr/>
        </p:nvGrpSpPr>
        <p:grpSpPr>
          <a:xfrm>
            <a:off x="951508" y="7760845"/>
            <a:ext cx="508159" cy="543806"/>
            <a:chOff x="0" y="0"/>
            <a:chExt cx="508157" cy="543804"/>
          </a:xfrm>
        </p:grpSpPr>
        <p:sp>
          <p:nvSpPr>
            <p:cNvPr id="161" name="Freeform 4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62" name="TextBox 4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64" name="TextBox 46"/>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PROBLEM STATEMENT</a:t>
            </a:r>
          </a:p>
        </p:txBody>
      </p:sp>
      <p:sp>
        <p:nvSpPr>
          <p:cNvPr id="165" name="TextBox 47"/>
          <p:cNvSpPr txBox="1"/>
          <p:nvPr/>
        </p:nvSpPr>
        <p:spPr>
          <a:xfrm>
            <a:off x="2255519" y="1638299"/>
            <a:ext cx="14990886" cy="82679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199" indent="-457199">
              <a:buSzPct val="100000"/>
              <a:buChar char="-"/>
              <a:defRPr sz="3000"/>
            </a:pPr>
          </a:p>
          <a:p>
            <a:pPr defTabSz="457200">
              <a:defRPr sz="3000">
                <a:latin typeface="Times New Roman"/>
                <a:ea typeface="Times New Roman"/>
                <a:cs typeface="Times New Roman"/>
                <a:sym typeface="Times New Roman"/>
              </a:defRPr>
            </a:pPr>
            <a:r>
              <a:t>Existing event ticketing systems are spread across multiple platforms, making it difficult for users to find and book tickets easily. Users also face problems in booking multiple tickets and managing them in one place. This leads to confusion and inefficiency. Therefore, there is a need for a simple and centralized system where users can view events from different platforms and book multiple tickets easily.</a:t>
            </a:r>
            <a:endParaRPr sz="2800"/>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169" name="Group 7"/>
          <p:cNvGrpSpPr/>
          <p:nvPr/>
        </p:nvGrpSpPr>
        <p:grpSpPr>
          <a:xfrm>
            <a:off x="709356" y="3315742"/>
            <a:ext cx="992464" cy="992464"/>
            <a:chOff x="0" y="0"/>
            <a:chExt cx="992462" cy="992462"/>
          </a:xfrm>
        </p:grpSpPr>
        <p:sp>
          <p:nvSpPr>
            <p:cNvPr id="16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68"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3</a:t>
              </a:r>
            </a:p>
          </p:txBody>
        </p:sp>
      </p:grpSp>
      <p:grpSp>
        <p:nvGrpSpPr>
          <p:cNvPr id="172" name="Group 10"/>
          <p:cNvGrpSpPr/>
          <p:nvPr/>
        </p:nvGrpSpPr>
        <p:grpSpPr>
          <a:xfrm>
            <a:off x="951508" y="4428295"/>
            <a:ext cx="508159" cy="543806"/>
            <a:chOff x="0" y="0"/>
            <a:chExt cx="508157" cy="543804"/>
          </a:xfrm>
        </p:grpSpPr>
        <p:sp>
          <p:nvSpPr>
            <p:cNvPr id="17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175" name="Group 13"/>
          <p:cNvGrpSpPr/>
          <p:nvPr/>
        </p:nvGrpSpPr>
        <p:grpSpPr>
          <a:xfrm>
            <a:off x="951508" y="1982348"/>
            <a:ext cx="508159" cy="543806"/>
            <a:chOff x="0" y="0"/>
            <a:chExt cx="508157" cy="543804"/>
          </a:xfrm>
        </p:grpSpPr>
        <p:sp>
          <p:nvSpPr>
            <p:cNvPr id="17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178" name="Group 16"/>
          <p:cNvGrpSpPr/>
          <p:nvPr/>
        </p:nvGrpSpPr>
        <p:grpSpPr>
          <a:xfrm>
            <a:off x="951508" y="5094058"/>
            <a:ext cx="508159" cy="543806"/>
            <a:chOff x="0" y="0"/>
            <a:chExt cx="508157" cy="543804"/>
          </a:xfrm>
        </p:grpSpPr>
        <p:sp>
          <p:nvSpPr>
            <p:cNvPr id="17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7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181" name="Group 19"/>
          <p:cNvGrpSpPr/>
          <p:nvPr/>
        </p:nvGrpSpPr>
        <p:grpSpPr>
          <a:xfrm>
            <a:off x="951508" y="2648112"/>
            <a:ext cx="508159" cy="543806"/>
            <a:chOff x="0" y="0"/>
            <a:chExt cx="508157" cy="543804"/>
          </a:xfrm>
        </p:grpSpPr>
        <p:sp>
          <p:nvSpPr>
            <p:cNvPr id="17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184" name="Group 22"/>
          <p:cNvGrpSpPr/>
          <p:nvPr/>
        </p:nvGrpSpPr>
        <p:grpSpPr>
          <a:xfrm>
            <a:off x="951508" y="6425584"/>
            <a:ext cx="508159" cy="543806"/>
            <a:chOff x="0" y="0"/>
            <a:chExt cx="508157" cy="543804"/>
          </a:xfrm>
        </p:grpSpPr>
        <p:sp>
          <p:nvSpPr>
            <p:cNvPr id="18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187" name="Group 25"/>
          <p:cNvGrpSpPr/>
          <p:nvPr/>
        </p:nvGrpSpPr>
        <p:grpSpPr>
          <a:xfrm>
            <a:off x="951508" y="5759822"/>
            <a:ext cx="508159" cy="543806"/>
            <a:chOff x="0" y="0"/>
            <a:chExt cx="508157" cy="543804"/>
          </a:xfrm>
        </p:grpSpPr>
        <p:sp>
          <p:nvSpPr>
            <p:cNvPr id="18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190" name="Group 41"/>
          <p:cNvGrpSpPr/>
          <p:nvPr/>
        </p:nvGrpSpPr>
        <p:grpSpPr>
          <a:xfrm>
            <a:off x="951508" y="7093215"/>
            <a:ext cx="508159" cy="543806"/>
            <a:chOff x="0" y="0"/>
            <a:chExt cx="508157" cy="543804"/>
          </a:xfrm>
        </p:grpSpPr>
        <p:sp>
          <p:nvSpPr>
            <p:cNvPr id="188" name="Freeform 4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89" name="TextBox 4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193" name="Group 44"/>
          <p:cNvGrpSpPr/>
          <p:nvPr/>
        </p:nvGrpSpPr>
        <p:grpSpPr>
          <a:xfrm>
            <a:off x="951508" y="7760845"/>
            <a:ext cx="508159" cy="543806"/>
            <a:chOff x="0" y="0"/>
            <a:chExt cx="508157" cy="543804"/>
          </a:xfrm>
        </p:grpSpPr>
        <p:sp>
          <p:nvSpPr>
            <p:cNvPr id="191" name="Freeform 4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192" name="TextBox 4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194" name="TextBox 49"/>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OBJECTIVE(S)</a:t>
            </a:r>
          </a:p>
        </p:txBody>
      </p:sp>
      <p:sp>
        <p:nvSpPr>
          <p:cNvPr id="195"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196" name="TextBox 51"/>
          <p:cNvSpPr txBox="1"/>
          <p:nvPr/>
        </p:nvSpPr>
        <p:spPr>
          <a:xfrm>
            <a:off x="2255519" y="1638299"/>
            <a:ext cx="14948397" cy="12281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just">
              <a:spcBef>
                <a:spcPts val="3000"/>
              </a:spcBef>
              <a:defRPr sz="3000">
                <a:latin typeface="Times New Roman"/>
                <a:ea typeface="Times New Roman"/>
                <a:cs typeface="Times New Roman"/>
                <a:sym typeface="Times New Roman"/>
              </a:defRPr>
            </a:pPr>
            <a:r>
              <a:t>1. To design and develop a centralized event ticketing system that allows users to view and book tickets from multiple platforms.</a:t>
            </a:r>
          </a:p>
          <a:p>
            <a:pPr>
              <a:spcBef>
                <a:spcPts val="3000"/>
              </a:spcBef>
              <a:defRPr sz="3000">
                <a:latin typeface="Times New Roman"/>
                <a:ea typeface="Times New Roman"/>
                <a:cs typeface="Times New Roman"/>
                <a:sym typeface="Times New Roman"/>
              </a:defRPr>
            </a:pPr>
            <a:r>
              <a:t>2. To implement a feature that enables users to book and manage multiple tickets easily within a single system.</a:t>
            </a:r>
          </a:p>
          <a:p>
            <a:pPr>
              <a:spcBef>
                <a:spcPts val="3000"/>
              </a:spcBef>
              <a:defRPr sz="3000">
                <a:latin typeface="Times New Roman"/>
                <a:ea typeface="Times New Roman"/>
                <a:cs typeface="Times New Roman"/>
                <a:sym typeface="Times New Roman"/>
              </a:defRPr>
            </a:pPr>
            <a:r>
              <a:t>3. To improve user experience by providing a simple and efficient interface for event discovery and booking.</a:t>
            </a:r>
          </a:p>
          <a:p>
            <a:pPr>
              <a:spcBef>
                <a:spcPts val="3000"/>
              </a:spcBef>
              <a:defRPr sz="3000">
                <a:latin typeface="Times New Roman"/>
                <a:ea typeface="Times New Roman"/>
                <a:cs typeface="Times New Roman"/>
                <a:sym typeface="Times New Roman"/>
              </a:defRPr>
            </a:pPr>
            <a:r>
              <a:t>4. To develop a reliable system for managing events, bookings, and user data effectively.</a:t>
            </a:r>
          </a:p>
          <a:p>
            <a:pPr>
              <a:spcBef>
                <a:spcPts val="3000"/>
              </a:spcBef>
              <a:defRPr sz="2800">
                <a:latin typeface="Times New Roman"/>
                <a:ea typeface="Times New Roman"/>
                <a:cs typeface="Times New Roman"/>
                <a:sym typeface="Times New Roman"/>
              </a:defRPr>
            </a:pPr>
          </a:p>
          <a:p>
            <a:pPr>
              <a:spcBef>
                <a:spcPts val="3000"/>
              </a:spcBef>
              <a:defRPr sz="2800"/>
            </a:pPr>
          </a:p>
          <a:p>
            <a:pPr marL="457200" indent="-457200">
              <a:spcBef>
                <a:spcPts val="3000"/>
              </a:spcBef>
              <a:buSzPct val="100000"/>
              <a:buChar char="-"/>
              <a:defRPr sz="2800"/>
            </a:pPr>
          </a:p>
          <a:p>
            <a:pPr marL="457200" indent="-457200">
              <a:spcBef>
                <a:spcPts val="3000"/>
              </a:spcBef>
              <a:buSzPct val="100000"/>
              <a:buChar char="-"/>
              <a:defRPr sz="2800"/>
            </a:pPr>
          </a:p>
          <a:p>
            <a:pPr marL="457200" indent="-457200">
              <a:spcBef>
                <a:spcPts val="3000"/>
              </a:spcBef>
              <a:buSzPct val="100000"/>
              <a:buChar char="-"/>
              <a:defRPr sz="2800"/>
            </a:pPr>
          </a:p>
          <a:p>
            <a:pPr marL="457200" indent="-457200">
              <a:spcBef>
                <a:spcPts val="3000"/>
              </a:spcBef>
              <a:buSzPct val="100000"/>
              <a:buChar char="-"/>
              <a:defRPr sz="2800"/>
            </a:pPr>
          </a:p>
          <a:p>
            <a:pPr marL="457200" indent="-457200">
              <a:spcBef>
                <a:spcPts val="3000"/>
              </a:spcBef>
              <a:buSzPct val="100000"/>
              <a:buChar char="-"/>
              <a:defRPr sz="2800"/>
            </a:pPr>
          </a:p>
          <a:p>
            <a:pPr marL="457200" indent="-457200">
              <a:spcBef>
                <a:spcPts val="3000"/>
              </a:spcBef>
              <a:buSzPct val="100000"/>
              <a:buChar char="-"/>
              <a:defRPr sz="2800"/>
            </a:pPr>
          </a:p>
          <a:p>
            <a:pPr marL="457200" indent="-457200">
              <a:spcBef>
                <a:spcPts val="3000"/>
              </a:spcBef>
              <a:buSzPct val="100000"/>
              <a:buChar char="-"/>
              <a:defRPr sz="2800"/>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00" name="Group 13"/>
          <p:cNvGrpSpPr/>
          <p:nvPr/>
        </p:nvGrpSpPr>
        <p:grpSpPr>
          <a:xfrm>
            <a:off x="709356" y="3983373"/>
            <a:ext cx="992464" cy="992464"/>
            <a:chOff x="0" y="0"/>
            <a:chExt cx="992462" cy="992462"/>
          </a:xfrm>
        </p:grpSpPr>
        <p:sp>
          <p:nvSpPr>
            <p:cNvPr id="198" name="Freeform 14"/>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199" name="TextBox 15"/>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4</a:t>
              </a:r>
            </a:p>
          </p:txBody>
        </p:sp>
      </p:grpSp>
      <p:grpSp>
        <p:nvGrpSpPr>
          <p:cNvPr id="203" name="Group 16"/>
          <p:cNvGrpSpPr/>
          <p:nvPr/>
        </p:nvGrpSpPr>
        <p:grpSpPr>
          <a:xfrm>
            <a:off x="951508" y="3315742"/>
            <a:ext cx="508159" cy="543806"/>
            <a:chOff x="0" y="0"/>
            <a:chExt cx="508157" cy="543804"/>
          </a:xfrm>
        </p:grpSpPr>
        <p:sp>
          <p:nvSpPr>
            <p:cNvPr id="201"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2"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06" name="Group 19"/>
          <p:cNvGrpSpPr/>
          <p:nvPr/>
        </p:nvGrpSpPr>
        <p:grpSpPr>
          <a:xfrm>
            <a:off x="951508" y="1982348"/>
            <a:ext cx="508159" cy="543806"/>
            <a:chOff x="0" y="0"/>
            <a:chExt cx="508157" cy="543804"/>
          </a:xfrm>
        </p:grpSpPr>
        <p:sp>
          <p:nvSpPr>
            <p:cNvPr id="204"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5"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09" name="Group 22"/>
          <p:cNvGrpSpPr/>
          <p:nvPr/>
        </p:nvGrpSpPr>
        <p:grpSpPr>
          <a:xfrm>
            <a:off x="951508" y="5094058"/>
            <a:ext cx="508159" cy="543806"/>
            <a:chOff x="0" y="0"/>
            <a:chExt cx="508157" cy="543804"/>
          </a:xfrm>
        </p:grpSpPr>
        <p:sp>
          <p:nvSpPr>
            <p:cNvPr id="207"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08"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12" name="Group 25"/>
          <p:cNvGrpSpPr/>
          <p:nvPr/>
        </p:nvGrpSpPr>
        <p:grpSpPr>
          <a:xfrm>
            <a:off x="951508" y="2648112"/>
            <a:ext cx="508159" cy="543806"/>
            <a:chOff x="0" y="0"/>
            <a:chExt cx="508157" cy="543804"/>
          </a:xfrm>
        </p:grpSpPr>
        <p:sp>
          <p:nvSpPr>
            <p:cNvPr id="210"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1"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15" name="Group 28"/>
          <p:cNvGrpSpPr/>
          <p:nvPr/>
        </p:nvGrpSpPr>
        <p:grpSpPr>
          <a:xfrm>
            <a:off x="951508" y="6425584"/>
            <a:ext cx="508159" cy="543806"/>
            <a:chOff x="0" y="0"/>
            <a:chExt cx="508157" cy="543804"/>
          </a:xfrm>
        </p:grpSpPr>
        <p:sp>
          <p:nvSpPr>
            <p:cNvPr id="213"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4"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18" name="Group 31"/>
          <p:cNvGrpSpPr/>
          <p:nvPr/>
        </p:nvGrpSpPr>
        <p:grpSpPr>
          <a:xfrm>
            <a:off x="951508" y="5759822"/>
            <a:ext cx="508159" cy="543806"/>
            <a:chOff x="0" y="0"/>
            <a:chExt cx="508157" cy="543804"/>
          </a:xfrm>
        </p:grpSpPr>
        <p:sp>
          <p:nvSpPr>
            <p:cNvPr id="216"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17"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21" name="Group 34"/>
          <p:cNvGrpSpPr/>
          <p:nvPr/>
        </p:nvGrpSpPr>
        <p:grpSpPr>
          <a:xfrm>
            <a:off x="951508" y="7093215"/>
            <a:ext cx="508159" cy="543806"/>
            <a:chOff x="0" y="0"/>
            <a:chExt cx="508157" cy="543804"/>
          </a:xfrm>
        </p:grpSpPr>
        <p:sp>
          <p:nvSpPr>
            <p:cNvPr id="219"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0"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24" name="Group 37"/>
          <p:cNvGrpSpPr/>
          <p:nvPr/>
        </p:nvGrpSpPr>
        <p:grpSpPr>
          <a:xfrm>
            <a:off x="951508" y="7760845"/>
            <a:ext cx="508159" cy="543806"/>
            <a:chOff x="0" y="0"/>
            <a:chExt cx="508157" cy="543804"/>
          </a:xfrm>
        </p:grpSpPr>
        <p:sp>
          <p:nvSpPr>
            <p:cNvPr id="222"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23"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25"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26" name="TextBox 45"/>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PROPOSED SYSTEM</a:t>
            </a:r>
          </a:p>
        </p:txBody>
      </p:sp>
      <p:sp>
        <p:nvSpPr>
          <p:cNvPr id="227" name="TextBox 47"/>
          <p:cNvSpPr txBox="1"/>
          <p:nvPr/>
        </p:nvSpPr>
        <p:spPr>
          <a:xfrm>
            <a:off x="2255519" y="1638299"/>
            <a:ext cx="14990886" cy="136019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just">
              <a:spcBef>
                <a:spcPts val="2400"/>
              </a:spcBef>
              <a:defRPr sz="3000">
                <a:latin typeface="Times New Roman"/>
                <a:ea typeface="Times New Roman"/>
                <a:cs typeface="Times New Roman"/>
                <a:sym typeface="Times New Roman"/>
              </a:defRPr>
            </a:pPr>
            <a:r>
              <a:t>1. The proposed system is a centralized event ticketing platform that displays events from multiple sources in one place.</a:t>
            </a:r>
          </a:p>
          <a:p>
            <a:pPr algn="just">
              <a:spcBef>
                <a:spcPts val="2400"/>
              </a:spcBef>
              <a:defRPr sz="3000">
                <a:latin typeface="Times New Roman"/>
                <a:ea typeface="Times New Roman"/>
                <a:cs typeface="Times New Roman"/>
                <a:sym typeface="Times New Roman"/>
              </a:defRPr>
            </a:pPr>
            <a:r>
              <a:t>2. It allows users to view event details, select seats, and book multiple tickets easily.</a:t>
            </a:r>
          </a:p>
          <a:p>
            <a:pPr algn="just">
              <a:spcBef>
                <a:spcPts val="2400"/>
              </a:spcBef>
              <a:defRPr sz="3000">
                <a:latin typeface="Times New Roman"/>
                <a:ea typeface="Times New Roman"/>
                <a:cs typeface="Times New Roman"/>
                <a:sym typeface="Times New Roman"/>
              </a:defRPr>
            </a:pPr>
            <a:r>
              <a:t>3. The system stores all bookings in a single database for easy access and management.</a:t>
            </a:r>
          </a:p>
          <a:p>
            <a:pPr algn="just">
              <a:spcBef>
                <a:spcPts val="2400"/>
              </a:spcBef>
              <a:defRPr sz="3000">
                <a:latin typeface="Times New Roman"/>
                <a:ea typeface="Times New Roman"/>
                <a:cs typeface="Times New Roman"/>
                <a:sym typeface="Times New Roman"/>
              </a:defRPr>
            </a:pPr>
            <a:r>
              <a:t>4. It solves the problem of switching between different platforms by providing all events in one interface.</a:t>
            </a:r>
          </a:p>
          <a:p>
            <a:pPr algn="just">
              <a:spcBef>
                <a:spcPts val="2400"/>
              </a:spcBef>
              <a:defRPr sz="3000">
                <a:latin typeface="Times New Roman"/>
                <a:ea typeface="Times New Roman"/>
                <a:cs typeface="Times New Roman"/>
                <a:sym typeface="Times New Roman"/>
              </a:defRPr>
            </a:pPr>
            <a:r>
              <a:t>5. Users can manage their tickets and bookings efficiently within the system.</a:t>
            </a:r>
          </a:p>
          <a:p>
            <a:pPr algn="just">
              <a:spcBef>
                <a:spcPts val="2400"/>
              </a:spcBef>
              <a:defRPr sz="3000">
                <a:latin typeface="Times New Roman"/>
                <a:ea typeface="Times New Roman"/>
                <a:cs typeface="Times New Roman"/>
                <a:sym typeface="Times New Roman"/>
              </a:defRPr>
            </a:pPr>
            <a:r>
              <a:t>6. Organizers can track ticket availability and bookings in real time.</a:t>
            </a:r>
          </a:p>
          <a:p>
            <a:pPr algn="just">
              <a:spcBef>
                <a:spcPts val="2400"/>
              </a:spcBef>
              <a:defRPr sz="3000">
                <a:latin typeface="Times New Roman"/>
                <a:ea typeface="Times New Roman"/>
                <a:cs typeface="Times New Roman"/>
                <a:sym typeface="Times New Roman"/>
              </a:defRPr>
            </a:pPr>
            <a:r>
              <a:t>7. The system reduces manual effort and improves accuracy in ticket management.</a:t>
            </a:r>
          </a:p>
          <a:p>
            <a:pPr algn="just">
              <a:spcBef>
                <a:spcPts val="2400"/>
              </a:spcBef>
              <a:defRPr sz="3000">
                <a:latin typeface="Times New Roman"/>
                <a:ea typeface="Times New Roman"/>
                <a:cs typeface="Times New Roman"/>
                <a:sym typeface="Times New Roman"/>
              </a:defRPr>
            </a:pPr>
            <a:r>
              <a:t>8. Compared to existing systems, it offers better convenience, centralized access, and improved user experience.</a:t>
            </a:r>
          </a:p>
          <a:p>
            <a:pPr algn="just">
              <a:spcBef>
                <a:spcPts val="2400"/>
              </a:spcBef>
              <a:defRPr sz="3000">
                <a:latin typeface="Times New Roman"/>
                <a:ea typeface="Times New Roman"/>
                <a:cs typeface="Times New Roman"/>
                <a:sym typeface="Times New Roman"/>
              </a:defRPr>
            </a:pPr>
          </a:p>
          <a:p>
            <a:pPr lvl="1" marL="914400" indent="-457200" algn="just">
              <a:spcBef>
                <a:spcPts val="2400"/>
              </a:spcBef>
              <a:buSzPct val="100000"/>
              <a:buFont typeface="Arial"/>
              <a:buChar char="•"/>
              <a:defRPr sz="30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a:p>
            <a:pPr marL="457200" indent="-457200">
              <a:buSzPct val="100000"/>
              <a:buChar char="-"/>
              <a:defRPr sz="2800"/>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31" name="Group 5"/>
          <p:cNvGrpSpPr/>
          <p:nvPr/>
        </p:nvGrpSpPr>
        <p:grpSpPr>
          <a:xfrm>
            <a:off x="709356" y="4655765"/>
            <a:ext cx="992464" cy="992464"/>
            <a:chOff x="0" y="0"/>
            <a:chExt cx="992462" cy="992462"/>
          </a:xfrm>
        </p:grpSpPr>
        <p:sp>
          <p:nvSpPr>
            <p:cNvPr id="229"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30"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5</a:t>
              </a:r>
            </a:p>
          </p:txBody>
        </p:sp>
      </p:grpSp>
      <p:grpSp>
        <p:nvGrpSpPr>
          <p:cNvPr id="234" name="Group 8"/>
          <p:cNvGrpSpPr/>
          <p:nvPr/>
        </p:nvGrpSpPr>
        <p:grpSpPr>
          <a:xfrm>
            <a:off x="951508" y="3320505"/>
            <a:ext cx="508159" cy="543806"/>
            <a:chOff x="0" y="0"/>
            <a:chExt cx="508157" cy="543804"/>
          </a:xfrm>
        </p:grpSpPr>
        <p:sp>
          <p:nvSpPr>
            <p:cNvPr id="232"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3"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37" name="Group 11"/>
          <p:cNvGrpSpPr/>
          <p:nvPr/>
        </p:nvGrpSpPr>
        <p:grpSpPr>
          <a:xfrm>
            <a:off x="951508" y="1987111"/>
            <a:ext cx="508159" cy="543806"/>
            <a:chOff x="0" y="0"/>
            <a:chExt cx="508157" cy="543804"/>
          </a:xfrm>
        </p:grpSpPr>
        <p:sp>
          <p:nvSpPr>
            <p:cNvPr id="235"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6"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40" name="Group 14"/>
          <p:cNvGrpSpPr/>
          <p:nvPr/>
        </p:nvGrpSpPr>
        <p:grpSpPr>
          <a:xfrm>
            <a:off x="951508" y="3988134"/>
            <a:ext cx="508159" cy="543806"/>
            <a:chOff x="0" y="0"/>
            <a:chExt cx="508157" cy="543804"/>
          </a:xfrm>
        </p:grpSpPr>
        <p:sp>
          <p:nvSpPr>
            <p:cNvPr id="238"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39"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43" name="Group 17"/>
          <p:cNvGrpSpPr/>
          <p:nvPr/>
        </p:nvGrpSpPr>
        <p:grpSpPr>
          <a:xfrm>
            <a:off x="951508" y="2652873"/>
            <a:ext cx="508159" cy="543806"/>
            <a:chOff x="0" y="0"/>
            <a:chExt cx="508157" cy="543804"/>
          </a:xfrm>
        </p:grpSpPr>
        <p:sp>
          <p:nvSpPr>
            <p:cNvPr id="241"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2"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46" name="Group 20"/>
          <p:cNvGrpSpPr/>
          <p:nvPr/>
        </p:nvGrpSpPr>
        <p:grpSpPr>
          <a:xfrm>
            <a:off x="951508" y="6430347"/>
            <a:ext cx="508159" cy="543806"/>
            <a:chOff x="0" y="0"/>
            <a:chExt cx="508157" cy="543804"/>
          </a:xfrm>
        </p:grpSpPr>
        <p:sp>
          <p:nvSpPr>
            <p:cNvPr id="244"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5"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49" name="Group 23"/>
          <p:cNvGrpSpPr/>
          <p:nvPr/>
        </p:nvGrpSpPr>
        <p:grpSpPr>
          <a:xfrm>
            <a:off x="951508" y="5764584"/>
            <a:ext cx="508159" cy="543806"/>
            <a:chOff x="0" y="0"/>
            <a:chExt cx="508157" cy="543804"/>
          </a:xfrm>
        </p:grpSpPr>
        <p:sp>
          <p:nvSpPr>
            <p:cNvPr id="247"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48"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252" name="Group 26"/>
          <p:cNvGrpSpPr/>
          <p:nvPr/>
        </p:nvGrpSpPr>
        <p:grpSpPr>
          <a:xfrm>
            <a:off x="951508" y="7088453"/>
            <a:ext cx="508159" cy="543806"/>
            <a:chOff x="0" y="0"/>
            <a:chExt cx="508157" cy="543804"/>
          </a:xfrm>
        </p:grpSpPr>
        <p:sp>
          <p:nvSpPr>
            <p:cNvPr id="250"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1"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55" name="Group 29"/>
          <p:cNvGrpSpPr/>
          <p:nvPr/>
        </p:nvGrpSpPr>
        <p:grpSpPr>
          <a:xfrm>
            <a:off x="951508" y="7756083"/>
            <a:ext cx="508159" cy="543806"/>
            <a:chOff x="0" y="0"/>
            <a:chExt cx="508157" cy="543804"/>
          </a:xfrm>
        </p:grpSpPr>
        <p:sp>
          <p:nvSpPr>
            <p:cNvPr id="253"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54"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56" name="Freeform 38"/>
          <p:cNvSpPr/>
          <p:nvPr/>
        </p:nvSpPr>
        <p:spPr>
          <a:xfrm>
            <a:off x="11762088" y="-9632634"/>
            <a:ext cx="10994425" cy="10994425"/>
          </a:xfrm>
          <a:prstGeom prst="ellipse">
            <a:avLst/>
          </a:prstGeom>
          <a:ln w="514350" cap="sq">
            <a:solidFill>
              <a:srgbClr val="FD6220">
                <a:alpha val="11765"/>
              </a:srgbClr>
            </a:solidFill>
            <a:miter/>
          </a:ln>
        </p:spPr>
        <p:txBody>
          <a:bodyPr lIns="45719" rIns="45719"/>
          <a:lstStyle/>
          <a:p>
            <a:pPr/>
          </a:p>
        </p:txBody>
      </p:sp>
      <p:sp>
        <p:nvSpPr>
          <p:cNvPr id="257"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58" name="TextBox 41"/>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PROPOSED SYSTEM ARCHITECTURE</a:t>
            </a:r>
          </a:p>
        </p:txBody>
      </p:sp>
      <p:pic>
        <p:nvPicPr>
          <p:cNvPr id="259" name="ChatGPT Image Mar 25, 2026 at 07_27_28 AM.png" descr="ChatGPT Image Mar 25, 2026 at 07_27_28 AM.png"/>
          <p:cNvPicPr>
            <a:picLocks noChangeAspect="1"/>
          </p:cNvPicPr>
          <p:nvPr/>
        </p:nvPicPr>
        <p:blipFill>
          <a:blip r:embed="rId3">
            <a:extLst/>
          </a:blip>
          <a:stretch>
            <a:fillRect/>
          </a:stretch>
        </p:blipFill>
        <p:spPr>
          <a:xfrm>
            <a:off x="3632551" y="2066341"/>
            <a:ext cx="11910438" cy="794029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63" name="Group 14"/>
          <p:cNvGrpSpPr/>
          <p:nvPr/>
        </p:nvGrpSpPr>
        <p:grpSpPr>
          <a:xfrm>
            <a:off x="735587" y="5318633"/>
            <a:ext cx="992464" cy="992464"/>
            <a:chOff x="0" y="0"/>
            <a:chExt cx="992462" cy="992462"/>
          </a:xfrm>
        </p:grpSpPr>
        <p:sp>
          <p:nvSpPr>
            <p:cNvPr id="261" name="Freeform 15"/>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62" name="TextBox 16"/>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6</a:t>
              </a:r>
            </a:p>
          </p:txBody>
        </p:sp>
      </p:grpSp>
      <p:grpSp>
        <p:nvGrpSpPr>
          <p:cNvPr id="266" name="Group 17"/>
          <p:cNvGrpSpPr/>
          <p:nvPr/>
        </p:nvGrpSpPr>
        <p:grpSpPr>
          <a:xfrm>
            <a:off x="977740" y="3315742"/>
            <a:ext cx="508159" cy="543806"/>
            <a:chOff x="0" y="0"/>
            <a:chExt cx="508157" cy="543804"/>
          </a:xfrm>
        </p:grpSpPr>
        <p:sp>
          <p:nvSpPr>
            <p:cNvPr id="264"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5"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269" name="Group 20"/>
          <p:cNvGrpSpPr/>
          <p:nvPr/>
        </p:nvGrpSpPr>
        <p:grpSpPr>
          <a:xfrm>
            <a:off x="977740" y="1982348"/>
            <a:ext cx="508159" cy="543806"/>
            <a:chOff x="0" y="0"/>
            <a:chExt cx="508157" cy="543804"/>
          </a:xfrm>
        </p:grpSpPr>
        <p:sp>
          <p:nvSpPr>
            <p:cNvPr id="267"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68"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272" name="Group 23"/>
          <p:cNvGrpSpPr/>
          <p:nvPr/>
        </p:nvGrpSpPr>
        <p:grpSpPr>
          <a:xfrm>
            <a:off x="977740" y="3983373"/>
            <a:ext cx="508159" cy="543806"/>
            <a:chOff x="0" y="0"/>
            <a:chExt cx="508157" cy="543804"/>
          </a:xfrm>
        </p:grpSpPr>
        <p:sp>
          <p:nvSpPr>
            <p:cNvPr id="270"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1"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275" name="Group 26"/>
          <p:cNvGrpSpPr/>
          <p:nvPr/>
        </p:nvGrpSpPr>
        <p:grpSpPr>
          <a:xfrm>
            <a:off x="977740" y="2648112"/>
            <a:ext cx="508159" cy="543806"/>
            <a:chOff x="0" y="0"/>
            <a:chExt cx="508157" cy="543804"/>
          </a:xfrm>
        </p:grpSpPr>
        <p:sp>
          <p:nvSpPr>
            <p:cNvPr id="273"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4"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278" name="Group 29"/>
          <p:cNvGrpSpPr/>
          <p:nvPr/>
        </p:nvGrpSpPr>
        <p:grpSpPr>
          <a:xfrm>
            <a:off x="977740" y="6425584"/>
            <a:ext cx="508159" cy="543806"/>
            <a:chOff x="0" y="0"/>
            <a:chExt cx="508157" cy="543804"/>
          </a:xfrm>
        </p:grpSpPr>
        <p:sp>
          <p:nvSpPr>
            <p:cNvPr id="276"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77"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281" name="Group 32"/>
          <p:cNvGrpSpPr/>
          <p:nvPr/>
        </p:nvGrpSpPr>
        <p:grpSpPr>
          <a:xfrm>
            <a:off x="977740" y="4651002"/>
            <a:ext cx="508159" cy="543806"/>
            <a:chOff x="0" y="0"/>
            <a:chExt cx="508157" cy="543804"/>
          </a:xfrm>
        </p:grpSpPr>
        <p:sp>
          <p:nvSpPr>
            <p:cNvPr id="279" name="Freeform 3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0" name="TextBox 3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284" name="Group 37"/>
          <p:cNvGrpSpPr/>
          <p:nvPr/>
        </p:nvGrpSpPr>
        <p:grpSpPr>
          <a:xfrm>
            <a:off x="977740" y="7093215"/>
            <a:ext cx="508159" cy="543806"/>
            <a:chOff x="0" y="0"/>
            <a:chExt cx="508157" cy="543804"/>
          </a:xfrm>
        </p:grpSpPr>
        <p:sp>
          <p:nvSpPr>
            <p:cNvPr id="282"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3"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287" name="Group 40"/>
          <p:cNvGrpSpPr/>
          <p:nvPr/>
        </p:nvGrpSpPr>
        <p:grpSpPr>
          <a:xfrm>
            <a:off x="977740" y="7760845"/>
            <a:ext cx="508159" cy="543806"/>
            <a:chOff x="0" y="0"/>
            <a:chExt cx="508157" cy="543804"/>
          </a:xfrm>
        </p:grpSpPr>
        <p:sp>
          <p:nvSpPr>
            <p:cNvPr id="285"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86"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288"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289" name="TextBox 46"/>
          <p:cNvSpPr txBox="1"/>
          <p:nvPr/>
        </p:nvSpPr>
        <p:spPr>
          <a:xfrm>
            <a:off x="236219" y="315937"/>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WORKFLOW</a:t>
            </a:r>
          </a:p>
        </p:txBody>
      </p:sp>
      <p:pic>
        <p:nvPicPr>
          <p:cNvPr id="290" name="ChatGPT Image Mar 25, 2026 at 08_03_42 AM.png" descr="ChatGPT Image Mar 25, 2026 at 08_03_42 AM.png"/>
          <p:cNvPicPr>
            <a:picLocks noChangeAspect="1"/>
          </p:cNvPicPr>
          <p:nvPr/>
        </p:nvPicPr>
        <p:blipFill>
          <a:blip r:embed="rId3">
            <a:extLst/>
          </a:blip>
          <a:stretch>
            <a:fillRect/>
          </a:stretch>
        </p:blipFill>
        <p:spPr>
          <a:xfrm>
            <a:off x="6177087" y="1603179"/>
            <a:ext cx="5773734" cy="866060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294" name="Group 19"/>
          <p:cNvGrpSpPr/>
          <p:nvPr/>
        </p:nvGrpSpPr>
        <p:grpSpPr>
          <a:xfrm>
            <a:off x="735587" y="5976927"/>
            <a:ext cx="992464" cy="992464"/>
            <a:chOff x="0" y="0"/>
            <a:chExt cx="992462" cy="992462"/>
          </a:xfrm>
        </p:grpSpPr>
        <p:sp>
          <p:nvSpPr>
            <p:cNvPr id="292" name="Freeform 20"/>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293" name="TextBox 21"/>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7</a:t>
              </a:r>
            </a:p>
          </p:txBody>
        </p:sp>
      </p:grpSp>
      <p:grpSp>
        <p:nvGrpSpPr>
          <p:cNvPr id="297" name="Group 22"/>
          <p:cNvGrpSpPr/>
          <p:nvPr/>
        </p:nvGrpSpPr>
        <p:grpSpPr>
          <a:xfrm>
            <a:off x="977740" y="3315742"/>
            <a:ext cx="508159" cy="543806"/>
            <a:chOff x="0" y="0"/>
            <a:chExt cx="508157" cy="543804"/>
          </a:xfrm>
        </p:grpSpPr>
        <p:sp>
          <p:nvSpPr>
            <p:cNvPr id="295"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96"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00" name="Group 25"/>
          <p:cNvGrpSpPr/>
          <p:nvPr/>
        </p:nvGrpSpPr>
        <p:grpSpPr>
          <a:xfrm>
            <a:off x="977740" y="1982348"/>
            <a:ext cx="508159" cy="543806"/>
            <a:chOff x="0" y="0"/>
            <a:chExt cx="508157" cy="543804"/>
          </a:xfrm>
        </p:grpSpPr>
        <p:sp>
          <p:nvSpPr>
            <p:cNvPr id="298"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299"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03" name="Group 28"/>
          <p:cNvGrpSpPr/>
          <p:nvPr/>
        </p:nvGrpSpPr>
        <p:grpSpPr>
          <a:xfrm>
            <a:off x="977740" y="3983373"/>
            <a:ext cx="508159" cy="543806"/>
            <a:chOff x="0" y="0"/>
            <a:chExt cx="508157" cy="543804"/>
          </a:xfrm>
        </p:grpSpPr>
        <p:sp>
          <p:nvSpPr>
            <p:cNvPr id="301"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2"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06" name="Group 31"/>
          <p:cNvGrpSpPr/>
          <p:nvPr/>
        </p:nvGrpSpPr>
        <p:grpSpPr>
          <a:xfrm>
            <a:off x="977740" y="2648112"/>
            <a:ext cx="508159" cy="543806"/>
            <a:chOff x="0" y="0"/>
            <a:chExt cx="508157" cy="543804"/>
          </a:xfrm>
        </p:grpSpPr>
        <p:sp>
          <p:nvSpPr>
            <p:cNvPr id="304"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5"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09" name="Group 34"/>
          <p:cNvGrpSpPr/>
          <p:nvPr/>
        </p:nvGrpSpPr>
        <p:grpSpPr>
          <a:xfrm>
            <a:off x="977740" y="5318633"/>
            <a:ext cx="508159" cy="543806"/>
            <a:chOff x="0" y="0"/>
            <a:chExt cx="508157" cy="543804"/>
          </a:xfrm>
        </p:grpSpPr>
        <p:sp>
          <p:nvSpPr>
            <p:cNvPr id="307" name="Freeform 3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08" name="TextBox 3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12" name="Group 37"/>
          <p:cNvGrpSpPr/>
          <p:nvPr/>
        </p:nvGrpSpPr>
        <p:grpSpPr>
          <a:xfrm>
            <a:off x="977740" y="4651002"/>
            <a:ext cx="508159" cy="543806"/>
            <a:chOff x="0" y="0"/>
            <a:chExt cx="508157" cy="543804"/>
          </a:xfrm>
        </p:grpSpPr>
        <p:sp>
          <p:nvSpPr>
            <p:cNvPr id="310" name="Freeform 3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1" name="TextBox 3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15" name="Group 40"/>
          <p:cNvGrpSpPr/>
          <p:nvPr/>
        </p:nvGrpSpPr>
        <p:grpSpPr>
          <a:xfrm>
            <a:off x="977740" y="7093215"/>
            <a:ext cx="508159" cy="543806"/>
            <a:chOff x="0" y="0"/>
            <a:chExt cx="508157" cy="543804"/>
          </a:xfrm>
        </p:grpSpPr>
        <p:sp>
          <p:nvSpPr>
            <p:cNvPr id="313" name="Freeform 4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4" name="TextBox 4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grpSp>
        <p:nvGrpSpPr>
          <p:cNvPr id="318" name="Group 43"/>
          <p:cNvGrpSpPr/>
          <p:nvPr/>
        </p:nvGrpSpPr>
        <p:grpSpPr>
          <a:xfrm>
            <a:off x="977740" y="7760845"/>
            <a:ext cx="508159" cy="543806"/>
            <a:chOff x="0" y="0"/>
            <a:chExt cx="508157" cy="543804"/>
          </a:xfrm>
        </p:grpSpPr>
        <p:sp>
          <p:nvSpPr>
            <p:cNvPr id="316" name="Freeform 4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17" name="TextBox 4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19" name="Freeform 10"/>
          <p:cNvSpPr/>
          <p:nvPr/>
        </p:nvSpPr>
        <p:spPr>
          <a:xfrm>
            <a:off x="16313419" y="910464"/>
            <a:ext cx="945881" cy="236471"/>
          </a:xfrm>
          <a:prstGeom prst="rect">
            <a:avLst/>
          </a:prstGeom>
          <a:blipFill>
            <a:blip r:embed="rId2"/>
            <a:stretch>
              <a:fillRect/>
            </a:stretch>
          </a:blipFill>
          <a:ln w="12700">
            <a:miter lim="400000"/>
          </a:ln>
        </p:spPr>
        <p:txBody>
          <a:bodyPr lIns="45719" rIns="45719"/>
          <a:lstStyle/>
          <a:p>
            <a:pPr/>
          </a:p>
        </p:txBody>
      </p:sp>
      <p:sp>
        <p:nvSpPr>
          <p:cNvPr id="320" name="TextBox 46"/>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TECHNOLOGIES USED</a:t>
            </a:r>
          </a:p>
        </p:txBody>
      </p:sp>
      <p:sp>
        <p:nvSpPr>
          <p:cNvPr id="321" name="TextBox 47"/>
          <p:cNvSpPr txBox="1"/>
          <p:nvPr/>
        </p:nvSpPr>
        <p:spPr>
          <a:xfrm>
            <a:off x="2255519" y="1638299"/>
            <a:ext cx="14990886" cy="10376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spcBef>
                <a:spcPts val="1000"/>
              </a:spcBef>
              <a:buSzPct val="100000"/>
              <a:buAutoNum type="arabicPeriod" startAt="1"/>
              <a:defRPr sz="2800"/>
            </a:pPr>
            <a:r>
              <a:t>Frontend: HTML5, CSS3, JavaScript (ES6)</a:t>
            </a:r>
          </a:p>
          <a:p>
            <a:pPr marL="228600" indent="-228600">
              <a:spcBef>
                <a:spcPts val="1000"/>
              </a:spcBef>
              <a:buSzPct val="100000"/>
              <a:buAutoNum type="arabicPeriod" startAt="1"/>
              <a:defRPr sz="2800"/>
            </a:pPr>
            <a:r>
              <a:t>Backend: PHP</a:t>
            </a:r>
          </a:p>
          <a:p>
            <a:pPr marL="228600" indent="-228600">
              <a:spcBef>
                <a:spcPts val="1000"/>
              </a:spcBef>
              <a:buSzPct val="100000"/>
              <a:buAutoNum type="arabicPeriod" startAt="1"/>
              <a:defRPr sz="2800"/>
            </a:pPr>
            <a:r>
              <a:t>Database: MySQL</a:t>
            </a:r>
          </a:p>
          <a:p>
            <a:pPr marL="228600" indent="-228600">
              <a:spcBef>
                <a:spcPts val="1000"/>
              </a:spcBef>
              <a:buSzPct val="100000"/>
              <a:buAutoNum type="arabicPeriod" startAt="1"/>
              <a:defRPr sz="2800"/>
            </a:pPr>
            <a:r>
              <a:t>Tools: XAMPP, VS Code, phpMyAdmin</a:t>
            </a:r>
          </a:p>
          <a:p>
            <a:pPr marL="228600" indent="-228600">
              <a:spcBef>
                <a:spcPts val="1000"/>
              </a:spcBef>
              <a:buSzPct val="100000"/>
              <a:buAutoNum type="arabicPeriod" startAt="1"/>
              <a:defRPr sz="2800"/>
            </a:pPr>
            <a:r>
              <a:t>Hardware/Software Requirements: A laptop with minimum 4GB RAM, web browser (Chrome/Edge),   XAMPP server installed</a:t>
            </a:r>
          </a:p>
          <a:p>
            <a:pPr marL="228600" indent="-228600">
              <a:spcBef>
                <a:spcPts val="1000"/>
              </a:spcBef>
              <a:buSzPct val="100000"/>
              <a:buAutoNum type="arabicPeriod" startAt="1"/>
              <a:defRPr sz="2800"/>
            </a:pPr>
          </a:p>
          <a:p>
            <a:pPr marL="228600" indent="-228600">
              <a:spcBef>
                <a:spcPts val="1000"/>
              </a:spcBef>
              <a:buSzPct val="100000"/>
              <a:buAutoNum type="arabicPeriod" startAt="7"/>
              <a:defRPr sz="2800"/>
            </a:pPr>
          </a:p>
          <a:p>
            <a:pPr marL="228600" indent="-228600">
              <a:spcBef>
                <a:spcPts val="1000"/>
              </a:spcBef>
              <a:buSzPct val="100000"/>
              <a:buAutoNum type="arabicPeriod" startAt="8"/>
              <a:defRPr sz="2800"/>
            </a:pPr>
          </a:p>
          <a:p>
            <a:pPr marL="228600" indent="-228600">
              <a:spcBef>
                <a:spcPts val="1000"/>
              </a:spcBef>
              <a:buSzPct val="100000"/>
              <a:buAutoNum type="arabicPeriod" startAt="9"/>
              <a:defRPr sz="2800"/>
            </a:pPr>
          </a:p>
          <a:p>
            <a:pPr marL="228600" indent="-228600">
              <a:spcBef>
                <a:spcPts val="1000"/>
              </a:spcBef>
              <a:buSzPct val="100000"/>
              <a:buAutoNum type="arabicPeriod" startAt="10"/>
              <a:defRPr sz="2800"/>
            </a:pPr>
          </a:p>
          <a:p>
            <a:pPr marL="228600" indent="-228600">
              <a:spcBef>
                <a:spcPts val="1000"/>
              </a:spcBef>
              <a:buSzPct val="100000"/>
              <a:buAutoNum type="arabicPeriod" startAt="11"/>
              <a:defRPr sz="2800"/>
            </a:pPr>
          </a:p>
          <a:p>
            <a:pPr marL="228600" indent="-228600">
              <a:spcBef>
                <a:spcPts val="1000"/>
              </a:spcBef>
              <a:buSzPct val="100000"/>
              <a:buAutoNum type="arabicPeriod" startAt="12"/>
              <a:defRPr sz="2800"/>
            </a:pPr>
          </a:p>
          <a:p>
            <a:pPr marL="228600" indent="-228600">
              <a:spcBef>
                <a:spcPts val="1000"/>
              </a:spcBef>
              <a:buSzPct val="100000"/>
              <a:buAutoNum type="arabicPeriod" startAt="13"/>
              <a:defRPr sz="2800"/>
            </a:pPr>
          </a:p>
          <a:p>
            <a:pPr marL="228600" indent="-228600">
              <a:spcBef>
                <a:spcPts val="1000"/>
              </a:spcBef>
              <a:buSzPct val="100000"/>
              <a:buAutoNum type="arabicPeriod" startAt="14"/>
              <a:defRPr sz="2800"/>
            </a:pPr>
          </a:p>
          <a:p>
            <a:pPr marL="228600" indent="-228600">
              <a:spcBef>
                <a:spcPts val="1000"/>
              </a:spcBef>
              <a:buSzPct val="100000"/>
              <a:buAutoNum type="arabicPeriod" startAt="15"/>
              <a:defRPr sz="2800"/>
            </a:pPr>
          </a:p>
          <a:p>
            <a:pPr marL="228600" indent="-228600">
              <a:spcBef>
                <a:spcPts val="1000"/>
              </a:spcBef>
              <a:buSzPct val="100000"/>
              <a:buAutoNum type="arabicPeriod" startAt="16"/>
              <a:defRPr sz="2800"/>
            </a:pPr>
          </a:p>
          <a:p>
            <a:pPr marL="228600" indent="-228600">
              <a:spcBef>
                <a:spcPts val="1000"/>
              </a:spcBef>
              <a:buSzPct val="100000"/>
              <a:buAutoNum type="arabicPeriod" startAt="17"/>
              <a:defRPr sz="2800"/>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25" name="Group 7"/>
          <p:cNvGrpSpPr/>
          <p:nvPr/>
        </p:nvGrpSpPr>
        <p:grpSpPr>
          <a:xfrm>
            <a:off x="735587" y="6653893"/>
            <a:ext cx="992464" cy="992464"/>
            <a:chOff x="0" y="0"/>
            <a:chExt cx="992462" cy="992462"/>
          </a:xfrm>
        </p:grpSpPr>
        <p:sp>
          <p:nvSpPr>
            <p:cNvPr id="323"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24" name="TextBox 9"/>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8</a:t>
              </a:r>
            </a:p>
          </p:txBody>
        </p:sp>
      </p:grpSp>
      <p:grpSp>
        <p:nvGrpSpPr>
          <p:cNvPr id="328" name="Group 10"/>
          <p:cNvGrpSpPr/>
          <p:nvPr/>
        </p:nvGrpSpPr>
        <p:grpSpPr>
          <a:xfrm>
            <a:off x="977740" y="3315742"/>
            <a:ext cx="508159" cy="543806"/>
            <a:chOff x="0" y="0"/>
            <a:chExt cx="508157" cy="543804"/>
          </a:xfrm>
        </p:grpSpPr>
        <p:sp>
          <p:nvSpPr>
            <p:cNvPr id="326"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27"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31" name="Group 13"/>
          <p:cNvGrpSpPr/>
          <p:nvPr/>
        </p:nvGrpSpPr>
        <p:grpSpPr>
          <a:xfrm>
            <a:off x="977740" y="1982348"/>
            <a:ext cx="508159" cy="543806"/>
            <a:chOff x="0" y="0"/>
            <a:chExt cx="508157" cy="543804"/>
          </a:xfrm>
        </p:grpSpPr>
        <p:sp>
          <p:nvSpPr>
            <p:cNvPr id="329"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0"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34" name="Group 16"/>
          <p:cNvGrpSpPr/>
          <p:nvPr/>
        </p:nvGrpSpPr>
        <p:grpSpPr>
          <a:xfrm>
            <a:off x="977740" y="3983373"/>
            <a:ext cx="508159" cy="543806"/>
            <a:chOff x="0" y="0"/>
            <a:chExt cx="508157" cy="543804"/>
          </a:xfrm>
        </p:grpSpPr>
        <p:sp>
          <p:nvSpPr>
            <p:cNvPr id="332"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3"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37" name="Group 19"/>
          <p:cNvGrpSpPr/>
          <p:nvPr/>
        </p:nvGrpSpPr>
        <p:grpSpPr>
          <a:xfrm>
            <a:off x="977740" y="2648112"/>
            <a:ext cx="508159" cy="543806"/>
            <a:chOff x="0" y="0"/>
            <a:chExt cx="508157" cy="543804"/>
          </a:xfrm>
        </p:grpSpPr>
        <p:sp>
          <p:nvSpPr>
            <p:cNvPr id="335"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6"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40" name="Group 22"/>
          <p:cNvGrpSpPr/>
          <p:nvPr/>
        </p:nvGrpSpPr>
        <p:grpSpPr>
          <a:xfrm>
            <a:off x="977740" y="5318633"/>
            <a:ext cx="508159" cy="543806"/>
            <a:chOff x="0" y="0"/>
            <a:chExt cx="508157" cy="543804"/>
          </a:xfrm>
        </p:grpSpPr>
        <p:sp>
          <p:nvSpPr>
            <p:cNvPr id="338"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39"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43" name="Group 25"/>
          <p:cNvGrpSpPr/>
          <p:nvPr/>
        </p:nvGrpSpPr>
        <p:grpSpPr>
          <a:xfrm>
            <a:off x="977740" y="4651002"/>
            <a:ext cx="508159" cy="543806"/>
            <a:chOff x="0" y="0"/>
            <a:chExt cx="508157" cy="543804"/>
          </a:xfrm>
        </p:grpSpPr>
        <p:sp>
          <p:nvSpPr>
            <p:cNvPr id="341"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2"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46" name="Group 28"/>
          <p:cNvGrpSpPr/>
          <p:nvPr/>
        </p:nvGrpSpPr>
        <p:grpSpPr>
          <a:xfrm>
            <a:off x="977740" y="5986264"/>
            <a:ext cx="508159" cy="543806"/>
            <a:chOff x="0" y="0"/>
            <a:chExt cx="508157" cy="543804"/>
          </a:xfrm>
        </p:grpSpPr>
        <p:sp>
          <p:nvSpPr>
            <p:cNvPr id="344"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5"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49" name="Group 31"/>
          <p:cNvGrpSpPr/>
          <p:nvPr/>
        </p:nvGrpSpPr>
        <p:grpSpPr>
          <a:xfrm>
            <a:off x="977740" y="7760845"/>
            <a:ext cx="508159" cy="543806"/>
            <a:chOff x="0" y="0"/>
            <a:chExt cx="508157" cy="543804"/>
          </a:xfrm>
        </p:grpSpPr>
        <p:sp>
          <p:nvSpPr>
            <p:cNvPr id="347"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48"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50"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351"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352"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MODULE DESCRIPTION</a:t>
            </a:r>
          </a:p>
        </p:txBody>
      </p:sp>
      <p:sp>
        <p:nvSpPr>
          <p:cNvPr id="353" name="TextBox 43"/>
          <p:cNvSpPr txBox="1"/>
          <p:nvPr/>
        </p:nvSpPr>
        <p:spPr>
          <a:xfrm>
            <a:off x="2255519" y="1638299"/>
            <a:ext cx="14990886" cy="82171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000">
                <a:latin typeface="Times New Roman"/>
                <a:ea typeface="Times New Roman"/>
                <a:cs typeface="Times New Roman"/>
                <a:sym typeface="Times New Roman"/>
              </a:defRPr>
            </a:pPr>
            <a:r>
              <a:t>1. </a:t>
            </a:r>
            <a:r>
              <a:rPr b="1"/>
              <a:t>User Module –</a:t>
            </a:r>
            <a:r>
              <a:t> This module handles user registration, login, and logout functionalities. It ensures only authenticated users can access the system.</a:t>
            </a:r>
          </a:p>
          <a:p>
            <a:pPr>
              <a:defRPr sz="3000">
                <a:latin typeface="Times New Roman"/>
                <a:ea typeface="Times New Roman"/>
                <a:cs typeface="Times New Roman"/>
                <a:sym typeface="Times New Roman"/>
              </a:defRPr>
            </a:pPr>
          </a:p>
          <a:p>
            <a:pPr>
              <a:defRPr sz="3000">
                <a:latin typeface="Times New Roman"/>
                <a:ea typeface="Times New Roman"/>
                <a:cs typeface="Times New Roman"/>
                <a:sym typeface="Times New Roman"/>
              </a:defRPr>
            </a:pPr>
            <a:r>
              <a:t>2. </a:t>
            </a:r>
            <a:r>
              <a:rPr b="1"/>
              <a:t>Event Module –</a:t>
            </a:r>
            <a:r>
              <a:t> This module displays all available events with details like date, location, and price. It helps users browse and select events easily.</a:t>
            </a:r>
          </a:p>
          <a:p>
            <a:pPr>
              <a:defRPr sz="3000">
                <a:latin typeface="Times New Roman"/>
                <a:ea typeface="Times New Roman"/>
                <a:cs typeface="Times New Roman"/>
                <a:sym typeface="Times New Roman"/>
              </a:defRPr>
            </a:pPr>
          </a:p>
          <a:p>
            <a:pPr>
              <a:defRPr sz="3000">
                <a:latin typeface="Times New Roman"/>
                <a:ea typeface="Times New Roman"/>
                <a:cs typeface="Times New Roman"/>
                <a:sym typeface="Times New Roman"/>
              </a:defRPr>
            </a:pPr>
            <a:r>
              <a:t>3.</a:t>
            </a:r>
            <a:r>
              <a:rPr b="1"/>
              <a:t> Booking Module –</a:t>
            </a:r>
            <a:r>
              <a:t> This module allows users to select seats and book tickets for events. It processes booking details and stores them in the database.</a:t>
            </a:r>
          </a:p>
          <a:p>
            <a:pPr>
              <a:defRPr sz="3000">
                <a:latin typeface="Times New Roman"/>
                <a:ea typeface="Times New Roman"/>
                <a:cs typeface="Times New Roman"/>
                <a:sym typeface="Times New Roman"/>
              </a:defRPr>
            </a:pPr>
          </a:p>
          <a:p>
            <a:pPr>
              <a:defRPr sz="3000">
                <a:latin typeface="Times New Roman"/>
                <a:ea typeface="Times New Roman"/>
                <a:cs typeface="Times New Roman"/>
                <a:sym typeface="Times New Roman"/>
              </a:defRPr>
            </a:pPr>
            <a:r>
              <a:t>4. </a:t>
            </a:r>
            <a:r>
              <a:rPr b="1"/>
              <a:t>My Tickets Module –</a:t>
            </a:r>
            <a:r>
              <a:t> This module enables users to view their booked tickets and booking history. It helps users manage and track their bookings.</a:t>
            </a:r>
          </a:p>
          <a:p>
            <a:pPr>
              <a:defRPr sz="3000">
                <a:latin typeface="Times New Roman"/>
                <a:ea typeface="Times New Roman"/>
                <a:cs typeface="Times New Roman"/>
                <a:sym typeface="Times New Roman"/>
              </a:defRPr>
            </a:pPr>
          </a:p>
          <a:p>
            <a:pPr>
              <a:defRPr sz="3000">
                <a:latin typeface="Times New Roman"/>
                <a:ea typeface="Times New Roman"/>
                <a:cs typeface="Times New Roman"/>
                <a:sym typeface="Times New Roman"/>
              </a:defRPr>
            </a:pPr>
          </a:p>
          <a:p>
            <a:pPr>
              <a:defRPr sz="3000">
                <a:latin typeface="Times New Roman"/>
                <a:ea typeface="Times New Roman"/>
                <a:cs typeface="Times New Roman"/>
                <a:sym typeface="Times New Roman"/>
              </a:defRPr>
            </a:pPr>
          </a:p>
          <a:p>
            <a:pPr>
              <a:defRPr sz="2800"/>
            </a:pPr>
          </a:p>
          <a:p>
            <a:pPr>
              <a:defRPr sz="2800"/>
            </a:pPr>
          </a:p>
          <a:p>
            <a:pPr>
              <a:defRPr sz="2800"/>
            </a:pPr>
          </a:p>
          <a:p>
            <a:pPr>
              <a:defRPr sz="2800"/>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57" name="Group 7"/>
          <p:cNvGrpSpPr/>
          <p:nvPr/>
        </p:nvGrpSpPr>
        <p:grpSpPr>
          <a:xfrm>
            <a:off x="735587" y="6653893"/>
            <a:ext cx="992464" cy="992464"/>
            <a:chOff x="0" y="0"/>
            <a:chExt cx="992462" cy="992462"/>
          </a:xfrm>
        </p:grpSpPr>
        <p:sp>
          <p:nvSpPr>
            <p:cNvPr id="355"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56"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t>
              </a:r>
            </a:p>
          </p:txBody>
        </p:sp>
      </p:grpSp>
      <p:grpSp>
        <p:nvGrpSpPr>
          <p:cNvPr id="360" name="Group 10"/>
          <p:cNvGrpSpPr/>
          <p:nvPr/>
        </p:nvGrpSpPr>
        <p:grpSpPr>
          <a:xfrm>
            <a:off x="977740" y="3315742"/>
            <a:ext cx="508159" cy="543806"/>
            <a:chOff x="0" y="0"/>
            <a:chExt cx="508157" cy="543804"/>
          </a:xfrm>
        </p:grpSpPr>
        <p:sp>
          <p:nvSpPr>
            <p:cNvPr id="358"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59"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63" name="Group 13"/>
          <p:cNvGrpSpPr/>
          <p:nvPr/>
        </p:nvGrpSpPr>
        <p:grpSpPr>
          <a:xfrm>
            <a:off x="977740" y="1982348"/>
            <a:ext cx="508159" cy="543806"/>
            <a:chOff x="0" y="0"/>
            <a:chExt cx="508157" cy="543804"/>
          </a:xfrm>
        </p:grpSpPr>
        <p:sp>
          <p:nvSpPr>
            <p:cNvPr id="361"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2"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66" name="Group 16"/>
          <p:cNvGrpSpPr/>
          <p:nvPr/>
        </p:nvGrpSpPr>
        <p:grpSpPr>
          <a:xfrm>
            <a:off x="977740" y="3983373"/>
            <a:ext cx="508159" cy="543806"/>
            <a:chOff x="0" y="0"/>
            <a:chExt cx="508157" cy="543804"/>
          </a:xfrm>
        </p:grpSpPr>
        <p:sp>
          <p:nvSpPr>
            <p:cNvPr id="364"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5"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369" name="Group 19"/>
          <p:cNvGrpSpPr/>
          <p:nvPr/>
        </p:nvGrpSpPr>
        <p:grpSpPr>
          <a:xfrm>
            <a:off x="977740" y="2648112"/>
            <a:ext cx="508159" cy="543806"/>
            <a:chOff x="0" y="0"/>
            <a:chExt cx="508157" cy="543804"/>
          </a:xfrm>
        </p:grpSpPr>
        <p:sp>
          <p:nvSpPr>
            <p:cNvPr id="367"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68"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372" name="Group 22"/>
          <p:cNvGrpSpPr/>
          <p:nvPr/>
        </p:nvGrpSpPr>
        <p:grpSpPr>
          <a:xfrm>
            <a:off x="977740" y="5318633"/>
            <a:ext cx="508159" cy="543806"/>
            <a:chOff x="0" y="0"/>
            <a:chExt cx="508157" cy="543804"/>
          </a:xfrm>
        </p:grpSpPr>
        <p:sp>
          <p:nvSpPr>
            <p:cNvPr id="370"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1"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375" name="Group 25"/>
          <p:cNvGrpSpPr/>
          <p:nvPr/>
        </p:nvGrpSpPr>
        <p:grpSpPr>
          <a:xfrm>
            <a:off x="977740" y="4651002"/>
            <a:ext cx="508159" cy="543806"/>
            <a:chOff x="0" y="0"/>
            <a:chExt cx="508157" cy="543804"/>
          </a:xfrm>
        </p:grpSpPr>
        <p:sp>
          <p:nvSpPr>
            <p:cNvPr id="373"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4"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378" name="Group 28"/>
          <p:cNvGrpSpPr/>
          <p:nvPr/>
        </p:nvGrpSpPr>
        <p:grpSpPr>
          <a:xfrm>
            <a:off x="977740" y="5986264"/>
            <a:ext cx="508159" cy="543806"/>
            <a:chOff x="0" y="0"/>
            <a:chExt cx="508157" cy="543804"/>
          </a:xfrm>
        </p:grpSpPr>
        <p:sp>
          <p:nvSpPr>
            <p:cNvPr id="376"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77"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381" name="Group 31"/>
          <p:cNvGrpSpPr/>
          <p:nvPr/>
        </p:nvGrpSpPr>
        <p:grpSpPr>
          <a:xfrm>
            <a:off x="977740" y="7760845"/>
            <a:ext cx="508159" cy="543806"/>
            <a:chOff x="0" y="0"/>
            <a:chExt cx="508157" cy="543804"/>
          </a:xfrm>
        </p:grpSpPr>
        <p:sp>
          <p:nvSpPr>
            <p:cNvPr id="379"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80"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382"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383"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384" name="TextBox 42"/>
          <p:cNvSpPr txBox="1"/>
          <p:nvPr/>
        </p:nvSpPr>
        <p:spPr>
          <a:xfrm>
            <a:off x="1406656" y="165174"/>
            <a:ext cx="17815561" cy="76404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385" name="Screenshot 2026-03-25 at 8.09.50 AM.png" descr="Screenshot 2026-03-25 at 8.09.50 AM.png"/>
          <p:cNvPicPr>
            <a:picLocks noChangeAspect="1"/>
          </p:cNvPicPr>
          <p:nvPr/>
        </p:nvPicPr>
        <p:blipFill>
          <a:blip r:embed="rId3">
            <a:extLst/>
          </a:blip>
          <a:stretch>
            <a:fillRect/>
          </a:stretch>
        </p:blipFill>
        <p:spPr>
          <a:xfrm>
            <a:off x="3401786" y="1629720"/>
            <a:ext cx="11837974" cy="737782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389" name="Group 7"/>
          <p:cNvGrpSpPr/>
          <p:nvPr/>
        </p:nvGrpSpPr>
        <p:grpSpPr>
          <a:xfrm>
            <a:off x="735587" y="6653893"/>
            <a:ext cx="992464" cy="992464"/>
            <a:chOff x="0" y="0"/>
            <a:chExt cx="992462" cy="992462"/>
          </a:xfrm>
        </p:grpSpPr>
        <p:sp>
          <p:nvSpPr>
            <p:cNvPr id="387"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388"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8(A)</a:t>
              </a:r>
            </a:p>
          </p:txBody>
        </p:sp>
      </p:grpSp>
      <p:grpSp>
        <p:nvGrpSpPr>
          <p:cNvPr id="392" name="Group 10"/>
          <p:cNvGrpSpPr/>
          <p:nvPr/>
        </p:nvGrpSpPr>
        <p:grpSpPr>
          <a:xfrm>
            <a:off x="977740" y="3315742"/>
            <a:ext cx="508159" cy="543806"/>
            <a:chOff x="0" y="0"/>
            <a:chExt cx="508157" cy="543804"/>
          </a:xfrm>
        </p:grpSpPr>
        <p:sp>
          <p:nvSpPr>
            <p:cNvPr id="390"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1"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395" name="Group 13"/>
          <p:cNvGrpSpPr/>
          <p:nvPr/>
        </p:nvGrpSpPr>
        <p:grpSpPr>
          <a:xfrm>
            <a:off x="977740" y="1982348"/>
            <a:ext cx="508159" cy="543806"/>
            <a:chOff x="0" y="0"/>
            <a:chExt cx="508157" cy="543804"/>
          </a:xfrm>
        </p:grpSpPr>
        <p:sp>
          <p:nvSpPr>
            <p:cNvPr id="393"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4"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398" name="Group 16"/>
          <p:cNvGrpSpPr/>
          <p:nvPr/>
        </p:nvGrpSpPr>
        <p:grpSpPr>
          <a:xfrm>
            <a:off x="977740" y="3983373"/>
            <a:ext cx="508159" cy="543806"/>
            <a:chOff x="0" y="0"/>
            <a:chExt cx="508157" cy="543804"/>
          </a:xfrm>
        </p:grpSpPr>
        <p:sp>
          <p:nvSpPr>
            <p:cNvPr id="396"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397"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01" name="Group 19"/>
          <p:cNvGrpSpPr/>
          <p:nvPr/>
        </p:nvGrpSpPr>
        <p:grpSpPr>
          <a:xfrm>
            <a:off x="977740" y="2648112"/>
            <a:ext cx="508159" cy="543806"/>
            <a:chOff x="0" y="0"/>
            <a:chExt cx="508157" cy="543804"/>
          </a:xfrm>
        </p:grpSpPr>
        <p:sp>
          <p:nvSpPr>
            <p:cNvPr id="399"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0"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04" name="Group 22"/>
          <p:cNvGrpSpPr/>
          <p:nvPr/>
        </p:nvGrpSpPr>
        <p:grpSpPr>
          <a:xfrm>
            <a:off x="977740" y="5318633"/>
            <a:ext cx="508159" cy="543806"/>
            <a:chOff x="0" y="0"/>
            <a:chExt cx="508157" cy="543804"/>
          </a:xfrm>
        </p:grpSpPr>
        <p:sp>
          <p:nvSpPr>
            <p:cNvPr id="402"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3"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07" name="Group 25"/>
          <p:cNvGrpSpPr/>
          <p:nvPr/>
        </p:nvGrpSpPr>
        <p:grpSpPr>
          <a:xfrm>
            <a:off x="977740" y="4651002"/>
            <a:ext cx="508159" cy="543806"/>
            <a:chOff x="0" y="0"/>
            <a:chExt cx="508157" cy="543804"/>
          </a:xfrm>
        </p:grpSpPr>
        <p:sp>
          <p:nvSpPr>
            <p:cNvPr id="405"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6"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10" name="Group 28"/>
          <p:cNvGrpSpPr/>
          <p:nvPr/>
        </p:nvGrpSpPr>
        <p:grpSpPr>
          <a:xfrm>
            <a:off x="977740" y="5986264"/>
            <a:ext cx="508159" cy="543806"/>
            <a:chOff x="0" y="0"/>
            <a:chExt cx="508157" cy="543804"/>
          </a:xfrm>
        </p:grpSpPr>
        <p:sp>
          <p:nvSpPr>
            <p:cNvPr id="408"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09"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13" name="Group 31"/>
          <p:cNvGrpSpPr/>
          <p:nvPr/>
        </p:nvGrpSpPr>
        <p:grpSpPr>
          <a:xfrm>
            <a:off x="977740" y="7760845"/>
            <a:ext cx="508159" cy="543806"/>
            <a:chOff x="0" y="0"/>
            <a:chExt cx="508157" cy="543804"/>
          </a:xfrm>
        </p:grpSpPr>
        <p:sp>
          <p:nvSpPr>
            <p:cNvPr id="411"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12"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14"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15"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16"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17" name="Screenshot 2026-03-25 at 8.10.47 AM.png" descr="Screenshot 2026-03-25 at 8.10.47 AM.png"/>
          <p:cNvPicPr>
            <a:picLocks noChangeAspect="1"/>
          </p:cNvPicPr>
          <p:nvPr/>
        </p:nvPicPr>
        <p:blipFill>
          <a:blip r:embed="rId3">
            <a:extLst/>
          </a:blip>
          <a:stretch>
            <a:fillRect/>
          </a:stretch>
        </p:blipFill>
        <p:spPr>
          <a:xfrm>
            <a:off x="2929457" y="1595963"/>
            <a:ext cx="12782632" cy="7989146"/>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421" name="Group 7"/>
          <p:cNvGrpSpPr/>
          <p:nvPr/>
        </p:nvGrpSpPr>
        <p:grpSpPr>
          <a:xfrm>
            <a:off x="735587" y="6653893"/>
            <a:ext cx="992464" cy="992464"/>
            <a:chOff x="0" y="0"/>
            <a:chExt cx="992462" cy="992462"/>
          </a:xfrm>
        </p:grpSpPr>
        <p:sp>
          <p:nvSpPr>
            <p:cNvPr id="419"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20"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8(B)</a:t>
              </a:r>
            </a:p>
          </p:txBody>
        </p:sp>
      </p:grpSp>
      <p:grpSp>
        <p:nvGrpSpPr>
          <p:cNvPr id="424" name="Group 10"/>
          <p:cNvGrpSpPr/>
          <p:nvPr/>
        </p:nvGrpSpPr>
        <p:grpSpPr>
          <a:xfrm>
            <a:off x="977740" y="3315742"/>
            <a:ext cx="508159" cy="543806"/>
            <a:chOff x="0" y="0"/>
            <a:chExt cx="508157" cy="543804"/>
          </a:xfrm>
        </p:grpSpPr>
        <p:sp>
          <p:nvSpPr>
            <p:cNvPr id="422"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3"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27" name="Group 13"/>
          <p:cNvGrpSpPr/>
          <p:nvPr/>
        </p:nvGrpSpPr>
        <p:grpSpPr>
          <a:xfrm>
            <a:off x="977740" y="1982348"/>
            <a:ext cx="508159" cy="543806"/>
            <a:chOff x="0" y="0"/>
            <a:chExt cx="508157" cy="543804"/>
          </a:xfrm>
        </p:grpSpPr>
        <p:sp>
          <p:nvSpPr>
            <p:cNvPr id="425"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6"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30" name="Group 16"/>
          <p:cNvGrpSpPr/>
          <p:nvPr/>
        </p:nvGrpSpPr>
        <p:grpSpPr>
          <a:xfrm>
            <a:off x="977740" y="3983373"/>
            <a:ext cx="508159" cy="543806"/>
            <a:chOff x="0" y="0"/>
            <a:chExt cx="508157" cy="543804"/>
          </a:xfrm>
        </p:grpSpPr>
        <p:sp>
          <p:nvSpPr>
            <p:cNvPr id="428"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29"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33" name="Group 19"/>
          <p:cNvGrpSpPr/>
          <p:nvPr/>
        </p:nvGrpSpPr>
        <p:grpSpPr>
          <a:xfrm>
            <a:off x="977740" y="2648112"/>
            <a:ext cx="508159" cy="543806"/>
            <a:chOff x="0" y="0"/>
            <a:chExt cx="508157" cy="543804"/>
          </a:xfrm>
        </p:grpSpPr>
        <p:sp>
          <p:nvSpPr>
            <p:cNvPr id="431"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2"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36" name="Group 22"/>
          <p:cNvGrpSpPr/>
          <p:nvPr/>
        </p:nvGrpSpPr>
        <p:grpSpPr>
          <a:xfrm>
            <a:off x="977740" y="5318633"/>
            <a:ext cx="508159" cy="543806"/>
            <a:chOff x="0" y="0"/>
            <a:chExt cx="508157" cy="543804"/>
          </a:xfrm>
        </p:grpSpPr>
        <p:sp>
          <p:nvSpPr>
            <p:cNvPr id="434"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5"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39" name="Group 25"/>
          <p:cNvGrpSpPr/>
          <p:nvPr/>
        </p:nvGrpSpPr>
        <p:grpSpPr>
          <a:xfrm>
            <a:off x="977740" y="4651002"/>
            <a:ext cx="508159" cy="543806"/>
            <a:chOff x="0" y="0"/>
            <a:chExt cx="508157" cy="543804"/>
          </a:xfrm>
        </p:grpSpPr>
        <p:sp>
          <p:nvSpPr>
            <p:cNvPr id="437"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38"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42" name="Group 28"/>
          <p:cNvGrpSpPr/>
          <p:nvPr/>
        </p:nvGrpSpPr>
        <p:grpSpPr>
          <a:xfrm>
            <a:off x="977740" y="5986264"/>
            <a:ext cx="508159" cy="543806"/>
            <a:chOff x="0" y="0"/>
            <a:chExt cx="508157" cy="543804"/>
          </a:xfrm>
        </p:grpSpPr>
        <p:sp>
          <p:nvSpPr>
            <p:cNvPr id="440"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1"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45" name="Group 31"/>
          <p:cNvGrpSpPr/>
          <p:nvPr/>
        </p:nvGrpSpPr>
        <p:grpSpPr>
          <a:xfrm>
            <a:off x="977740" y="7760845"/>
            <a:ext cx="508159" cy="543806"/>
            <a:chOff x="0" y="0"/>
            <a:chExt cx="508157" cy="543804"/>
          </a:xfrm>
        </p:grpSpPr>
        <p:sp>
          <p:nvSpPr>
            <p:cNvPr id="443"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44"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46"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47"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48"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49" name="Screenshot 2026-03-25 at 8.11.20 AM.png" descr="Screenshot 2026-03-25 at 8.11.20 AM.png"/>
          <p:cNvPicPr>
            <a:picLocks noChangeAspect="1"/>
          </p:cNvPicPr>
          <p:nvPr/>
        </p:nvPicPr>
        <p:blipFill>
          <a:blip r:embed="rId3">
            <a:extLst/>
          </a:blip>
          <a:stretch>
            <a:fillRect/>
          </a:stretch>
        </p:blipFill>
        <p:spPr>
          <a:xfrm>
            <a:off x="2739586" y="1126424"/>
            <a:ext cx="13415069" cy="8384419"/>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453" name="Group 7"/>
          <p:cNvGrpSpPr/>
          <p:nvPr/>
        </p:nvGrpSpPr>
        <p:grpSpPr>
          <a:xfrm>
            <a:off x="735587" y="6653893"/>
            <a:ext cx="992464" cy="992464"/>
            <a:chOff x="0" y="0"/>
            <a:chExt cx="992462" cy="992462"/>
          </a:xfrm>
        </p:grpSpPr>
        <p:sp>
          <p:nvSpPr>
            <p:cNvPr id="451" name="Freeform 8"/>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52" name="TextBox 9"/>
            <p:cNvSpPr txBox="1"/>
            <p:nvPr/>
          </p:nvSpPr>
          <p:spPr>
            <a:xfrm>
              <a:off x="93043" y="187530"/>
              <a:ext cx="806377" cy="5476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b="1" sz="2400">
                  <a:solidFill>
                    <a:srgbClr val="002060"/>
                  </a:solidFill>
                  <a:latin typeface="Gotham"/>
                  <a:ea typeface="Gotham"/>
                  <a:cs typeface="Gotham"/>
                  <a:sym typeface="Gotham"/>
                </a:defRPr>
              </a:lvl1pPr>
            </a:lstStyle>
            <a:p>
              <a:pPr/>
              <a:r>
                <a:t>8(C)</a:t>
              </a:r>
            </a:p>
          </p:txBody>
        </p:sp>
      </p:grpSp>
      <p:grpSp>
        <p:nvGrpSpPr>
          <p:cNvPr id="456" name="Group 10"/>
          <p:cNvGrpSpPr/>
          <p:nvPr/>
        </p:nvGrpSpPr>
        <p:grpSpPr>
          <a:xfrm>
            <a:off x="977740" y="3315742"/>
            <a:ext cx="508159" cy="543806"/>
            <a:chOff x="0" y="0"/>
            <a:chExt cx="508157" cy="543804"/>
          </a:xfrm>
        </p:grpSpPr>
        <p:sp>
          <p:nvSpPr>
            <p:cNvPr id="454" name="Freeform 1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55" name="TextBox 1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59" name="Group 13"/>
          <p:cNvGrpSpPr/>
          <p:nvPr/>
        </p:nvGrpSpPr>
        <p:grpSpPr>
          <a:xfrm>
            <a:off x="977740" y="1982348"/>
            <a:ext cx="508159" cy="543806"/>
            <a:chOff x="0" y="0"/>
            <a:chExt cx="508157" cy="543804"/>
          </a:xfrm>
        </p:grpSpPr>
        <p:sp>
          <p:nvSpPr>
            <p:cNvPr id="457" name="Freeform 1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58" name="TextBox 1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62" name="Group 16"/>
          <p:cNvGrpSpPr/>
          <p:nvPr/>
        </p:nvGrpSpPr>
        <p:grpSpPr>
          <a:xfrm>
            <a:off x="977740" y="3983373"/>
            <a:ext cx="508159" cy="543806"/>
            <a:chOff x="0" y="0"/>
            <a:chExt cx="508157" cy="543804"/>
          </a:xfrm>
        </p:grpSpPr>
        <p:sp>
          <p:nvSpPr>
            <p:cNvPr id="460" name="Freeform 1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1" name="TextBox 1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65" name="Group 19"/>
          <p:cNvGrpSpPr/>
          <p:nvPr/>
        </p:nvGrpSpPr>
        <p:grpSpPr>
          <a:xfrm>
            <a:off x="977740" y="2648112"/>
            <a:ext cx="508159" cy="543806"/>
            <a:chOff x="0" y="0"/>
            <a:chExt cx="508157" cy="543804"/>
          </a:xfrm>
        </p:grpSpPr>
        <p:sp>
          <p:nvSpPr>
            <p:cNvPr id="463" name="Freeform 2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4" name="TextBox 2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468" name="Group 22"/>
          <p:cNvGrpSpPr/>
          <p:nvPr/>
        </p:nvGrpSpPr>
        <p:grpSpPr>
          <a:xfrm>
            <a:off x="977740" y="5318633"/>
            <a:ext cx="508159" cy="543806"/>
            <a:chOff x="0" y="0"/>
            <a:chExt cx="508157" cy="543804"/>
          </a:xfrm>
        </p:grpSpPr>
        <p:sp>
          <p:nvSpPr>
            <p:cNvPr id="466" name="Freeform 23"/>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67" name="TextBox 24"/>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471" name="Group 25"/>
          <p:cNvGrpSpPr/>
          <p:nvPr/>
        </p:nvGrpSpPr>
        <p:grpSpPr>
          <a:xfrm>
            <a:off x="977740" y="4651002"/>
            <a:ext cx="508159" cy="543806"/>
            <a:chOff x="0" y="0"/>
            <a:chExt cx="508157" cy="543804"/>
          </a:xfrm>
        </p:grpSpPr>
        <p:sp>
          <p:nvSpPr>
            <p:cNvPr id="469" name="Freeform 26"/>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0" name="TextBox 27"/>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474" name="Group 28"/>
          <p:cNvGrpSpPr/>
          <p:nvPr/>
        </p:nvGrpSpPr>
        <p:grpSpPr>
          <a:xfrm>
            <a:off x="977740" y="5986264"/>
            <a:ext cx="508159" cy="543806"/>
            <a:chOff x="0" y="0"/>
            <a:chExt cx="508157" cy="543804"/>
          </a:xfrm>
        </p:grpSpPr>
        <p:sp>
          <p:nvSpPr>
            <p:cNvPr id="472" name="Freeform 2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3" name="TextBox 3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477" name="Group 31"/>
          <p:cNvGrpSpPr/>
          <p:nvPr/>
        </p:nvGrpSpPr>
        <p:grpSpPr>
          <a:xfrm>
            <a:off x="977740" y="7760845"/>
            <a:ext cx="508159" cy="543806"/>
            <a:chOff x="0" y="0"/>
            <a:chExt cx="508157" cy="543804"/>
          </a:xfrm>
        </p:grpSpPr>
        <p:sp>
          <p:nvSpPr>
            <p:cNvPr id="475" name="Freeform 3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76" name="TextBox 3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9</a:t>
              </a:r>
            </a:p>
          </p:txBody>
        </p:sp>
      </p:grpSp>
      <p:sp>
        <p:nvSpPr>
          <p:cNvPr id="478" name="Freeform 34"/>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479" name="Freeform 36"/>
          <p:cNvSpPr/>
          <p:nvPr/>
        </p:nvSpPr>
        <p:spPr>
          <a:xfrm>
            <a:off x="17170670" y="-178579"/>
            <a:ext cx="10994424" cy="10994424"/>
          </a:xfrm>
          <a:prstGeom prst="ellipse">
            <a:avLst/>
          </a:prstGeom>
          <a:ln w="514350" cap="sq">
            <a:solidFill>
              <a:srgbClr val="FD6220">
                <a:alpha val="11765"/>
              </a:srgbClr>
            </a:solidFill>
            <a:miter/>
          </a:ln>
        </p:spPr>
        <p:txBody>
          <a:bodyPr lIns="45719" rIns="45719"/>
          <a:lstStyle/>
          <a:p>
            <a:pPr/>
          </a:p>
        </p:txBody>
      </p:sp>
      <p:sp>
        <p:nvSpPr>
          <p:cNvPr id="480" name="TextBox 42"/>
          <p:cNvSpPr txBox="1"/>
          <p:nvPr/>
        </p:nvSpPr>
        <p:spPr>
          <a:xfrm>
            <a:off x="198119" y="342899"/>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IMPLEMENTATION SCREENSHOTS</a:t>
            </a:r>
          </a:p>
        </p:txBody>
      </p:sp>
      <p:pic>
        <p:nvPicPr>
          <p:cNvPr id="481" name="Screenshot 2026-03-25 at 8.11.56 AM.png" descr="Screenshot 2026-03-25 at 8.11.56 AM.png"/>
          <p:cNvPicPr>
            <a:picLocks noChangeAspect="1"/>
          </p:cNvPicPr>
          <p:nvPr/>
        </p:nvPicPr>
        <p:blipFill>
          <a:blip r:embed="rId3">
            <a:extLst/>
          </a:blip>
          <a:stretch>
            <a:fillRect/>
          </a:stretch>
        </p:blipFill>
        <p:spPr>
          <a:xfrm>
            <a:off x="2536412" y="1229758"/>
            <a:ext cx="13987585" cy="8721557"/>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grpSp>
        <p:nvGrpSpPr>
          <p:cNvPr id="485" name="Group 5"/>
          <p:cNvGrpSpPr/>
          <p:nvPr/>
        </p:nvGrpSpPr>
        <p:grpSpPr>
          <a:xfrm>
            <a:off x="735587" y="7321525"/>
            <a:ext cx="992464" cy="992464"/>
            <a:chOff x="0" y="0"/>
            <a:chExt cx="992462" cy="992462"/>
          </a:xfrm>
        </p:grpSpPr>
        <p:sp>
          <p:nvSpPr>
            <p:cNvPr id="483" name="Freeform 6"/>
            <p:cNvSpPr/>
            <p:nvPr/>
          </p:nvSpPr>
          <p:spPr>
            <a:xfrm>
              <a:off x="0" y="0"/>
              <a:ext cx="992463" cy="992463"/>
            </a:xfrm>
            <a:prstGeom prst="ellipse">
              <a:avLst/>
            </a:prstGeom>
            <a:solidFill>
              <a:srgbClr val="FD6220"/>
            </a:solidFill>
            <a:ln w="12700" cap="flat">
              <a:noFill/>
              <a:miter lim="400000"/>
            </a:ln>
            <a:effectLst/>
          </p:spPr>
          <p:txBody>
            <a:bodyPr wrap="square" lIns="45719" tIns="45719" rIns="45719" bIns="45719" numCol="1" anchor="t">
              <a:noAutofit/>
            </a:bodyPr>
            <a:lstStyle/>
            <a:p>
              <a:pPr/>
            </a:p>
          </p:txBody>
        </p:sp>
        <p:sp>
          <p:nvSpPr>
            <p:cNvPr id="484" name="TextBox 7"/>
            <p:cNvSpPr txBox="1"/>
            <p:nvPr/>
          </p:nvSpPr>
          <p:spPr>
            <a:xfrm>
              <a:off x="93043" y="184610"/>
              <a:ext cx="806377" cy="5534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3700"/>
                </a:lnSpc>
                <a:defRPr sz="2600">
                  <a:solidFill>
                    <a:srgbClr val="FFFEFE"/>
                  </a:solidFill>
                  <a:latin typeface="Gotham"/>
                  <a:ea typeface="Gotham"/>
                  <a:cs typeface="Gotham"/>
                  <a:sym typeface="Gotham"/>
                </a:defRPr>
              </a:lvl1pPr>
            </a:lstStyle>
            <a:p>
              <a:pPr/>
              <a:r>
                <a:t>9</a:t>
              </a:r>
            </a:p>
          </p:txBody>
        </p:sp>
      </p:grpSp>
      <p:grpSp>
        <p:nvGrpSpPr>
          <p:cNvPr id="488" name="Group 8"/>
          <p:cNvGrpSpPr/>
          <p:nvPr/>
        </p:nvGrpSpPr>
        <p:grpSpPr>
          <a:xfrm>
            <a:off x="977740" y="3315742"/>
            <a:ext cx="508159" cy="543806"/>
            <a:chOff x="0" y="0"/>
            <a:chExt cx="508157" cy="543804"/>
          </a:xfrm>
        </p:grpSpPr>
        <p:sp>
          <p:nvSpPr>
            <p:cNvPr id="486" name="Freeform 9"/>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87" name="TextBox 10"/>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3</a:t>
              </a:r>
            </a:p>
          </p:txBody>
        </p:sp>
      </p:grpSp>
      <p:grpSp>
        <p:nvGrpSpPr>
          <p:cNvPr id="491" name="Group 11"/>
          <p:cNvGrpSpPr/>
          <p:nvPr/>
        </p:nvGrpSpPr>
        <p:grpSpPr>
          <a:xfrm>
            <a:off x="977740" y="1982348"/>
            <a:ext cx="508159" cy="543806"/>
            <a:chOff x="0" y="0"/>
            <a:chExt cx="508157" cy="543804"/>
          </a:xfrm>
        </p:grpSpPr>
        <p:sp>
          <p:nvSpPr>
            <p:cNvPr id="489" name="Freeform 12"/>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0" name="TextBox 13"/>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1</a:t>
              </a:r>
            </a:p>
          </p:txBody>
        </p:sp>
      </p:grpSp>
      <p:grpSp>
        <p:nvGrpSpPr>
          <p:cNvPr id="494" name="Group 14"/>
          <p:cNvGrpSpPr/>
          <p:nvPr/>
        </p:nvGrpSpPr>
        <p:grpSpPr>
          <a:xfrm>
            <a:off x="977740" y="3983373"/>
            <a:ext cx="508159" cy="543806"/>
            <a:chOff x="0" y="0"/>
            <a:chExt cx="508157" cy="543804"/>
          </a:xfrm>
        </p:grpSpPr>
        <p:sp>
          <p:nvSpPr>
            <p:cNvPr id="492" name="Freeform 15"/>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3" name="TextBox 16"/>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4</a:t>
              </a:r>
            </a:p>
          </p:txBody>
        </p:sp>
      </p:grpSp>
      <p:grpSp>
        <p:nvGrpSpPr>
          <p:cNvPr id="497" name="Group 17"/>
          <p:cNvGrpSpPr/>
          <p:nvPr/>
        </p:nvGrpSpPr>
        <p:grpSpPr>
          <a:xfrm>
            <a:off x="977740" y="2648112"/>
            <a:ext cx="508159" cy="543806"/>
            <a:chOff x="0" y="0"/>
            <a:chExt cx="508157" cy="543804"/>
          </a:xfrm>
        </p:grpSpPr>
        <p:sp>
          <p:nvSpPr>
            <p:cNvPr id="495" name="Freeform 18"/>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6" name="TextBox 19"/>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2</a:t>
              </a:r>
            </a:p>
          </p:txBody>
        </p:sp>
      </p:grpSp>
      <p:grpSp>
        <p:nvGrpSpPr>
          <p:cNvPr id="500" name="Group 20"/>
          <p:cNvGrpSpPr/>
          <p:nvPr/>
        </p:nvGrpSpPr>
        <p:grpSpPr>
          <a:xfrm>
            <a:off x="977740" y="5318633"/>
            <a:ext cx="508159" cy="543806"/>
            <a:chOff x="0" y="0"/>
            <a:chExt cx="508157" cy="543804"/>
          </a:xfrm>
        </p:grpSpPr>
        <p:sp>
          <p:nvSpPr>
            <p:cNvPr id="498" name="Freeform 21"/>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499" name="TextBox 22"/>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6</a:t>
              </a:r>
            </a:p>
          </p:txBody>
        </p:sp>
      </p:grpSp>
      <p:grpSp>
        <p:nvGrpSpPr>
          <p:cNvPr id="503" name="Group 23"/>
          <p:cNvGrpSpPr/>
          <p:nvPr/>
        </p:nvGrpSpPr>
        <p:grpSpPr>
          <a:xfrm>
            <a:off x="977740" y="4651002"/>
            <a:ext cx="508159" cy="543806"/>
            <a:chOff x="0" y="0"/>
            <a:chExt cx="508157" cy="543804"/>
          </a:xfrm>
        </p:grpSpPr>
        <p:sp>
          <p:nvSpPr>
            <p:cNvPr id="501" name="Freeform 24"/>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2" name="TextBox 25"/>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5</a:t>
              </a:r>
            </a:p>
          </p:txBody>
        </p:sp>
      </p:grpSp>
      <p:grpSp>
        <p:nvGrpSpPr>
          <p:cNvPr id="506" name="Group 26"/>
          <p:cNvGrpSpPr/>
          <p:nvPr/>
        </p:nvGrpSpPr>
        <p:grpSpPr>
          <a:xfrm>
            <a:off x="977740" y="5986264"/>
            <a:ext cx="508159" cy="543806"/>
            <a:chOff x="0" y="0"/>
            <a:chExt cx="508157" cy="543804"/>
          </a:xfrm>
        </p:grpSpPr>
        <p:sp>
          <p:nvSpPr>
            <p:cNvPr id="504" name="Freeform 27"/>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5" name="TextBox 28"/>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7</a:t>
              </a:r>
            </a:p>
          </p:txBody>
        </p:sp>
      </p:grpSp>
      <p:grpSp>
        <p:nvGrpSpPr>
          <p:cNvPr id="509" name="Group 29"/>
          <p:cNvGrpSpPr/>
          <p:nvPr/>
        </p:nvGrpSpPr>
        <p:grpSpPr>
          <a:xfrm>
            <a:off x="977740" y="6653893"/>
            <a:ext cx="508159" cy="543806"/>
            <a:chOff x="0" y="0"/>
            <a:chExt cx="508157" cy="543804"/>
          </a:xfrm>
        </p:grpSpPr>
        <p:sp>
          <p:nvSpPr>
            <p:cNvPr id="507" name="Freeform 30"/>
            <p:cNvSpPr/>
            <p:nvPr/>
          </p:nvSpPr>
          <p:spPr>
            <a:xfrm>
              <a:off x="0" y="0"/>
              <a:ext cx="508158" cy="543805"/>
            </a:xfrm>
            <a:prstGeom prst="ellipse">
              <a:avLst/>
            </a:prstGeom>
            <a:solidFill>
              <a:srgbClr val="FFFEFE"/>
            </a:solidFill>
            <a:ln w="9525" cap="sq">
              <a:solidFill>
                <a:srgbClr val="FD6220"/>
              </a:solidFill>
              <a:prstDash val="solid"/>
              <a:miter lim="800000"/>
            </a:ln>
            <a:effectLst/>
          </p:spPr>
          <p:txBody>
            <a:bodyPr wrap="square" lIns="45719" tIns="45719" rIns="45719" bIns="45719" numCol="1" anchor="t">
              <a:noAutofit/>
            </a:bodyPr>
            <a:lstStyle/>
            <a:p>
              <a:pPr/>
            </a:p>
          </p:txBody>
        </p:sp>
        <p:sp>
          <p:nvSpPr>
            <p:cNvPr id="508" name="TextBox 31"/>
            <p:cNvSpPr txBox="1"/>
            <p:nvPr/>
          </p:nvSpPr>
          <p:spPr>
            <a:xfrm>
              <a:off x="47639" y="70503"/>
              <a:ext cx="412879" cy="3849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spAutoFit/>
            </a:bodyPr>
            <a:lstStyle>
              <a:lvl1pPr algn="ctr">
                <a:lnSpc>
                  <a:spcPts val="2300"/>
                </a:lnSpc>
                <a:defRPr sz="1700">
                  <a:solidFill>
                    <a:srgbClr val="191919"/>
                  </a:solidFill>
                  <a:latin typeface="Gotham"/>
                  <a:ea typeface="Gotham"/>
                  <a:cs typeface="Gotham"/>
                  <a:sym typeface="Gotham"/>
                </a:defRPr>
              </a:lvl1pPr>
            </a:lstStyle>
            <a:p>
              <a:pPr/>
              <a:r>
                <a:t>8</a:t>
              </a:r>
            </a:p>
          </p:txBody>
        </p:sp>
      </p:grpSp>
      <p:sp>
        <p:nvSpPr>
          <p:cNvPr id="510" name="Freeform 32"/>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511" name="Freeform 45"/>
          <p:cNvSpPr/>
          <p:nvPr/>
        </p:nvSpPr>
        <p:spPr>
          <a:xfrm>
            <a:off x="16786360" y="-353712"/>
            <a:ext cx="10994424" cy="10994424"/>
          </a:xfrm>
          <a:prstGeom prst="ellipse">
            <a:avLst/>
          </a:prstGeom>
          <a:ln w="619125" cap="sq">
            <a:solidFill>
              <a:srgbClr val="FD6220">
                <a:alpha val="11765"/>
              </a:srgbClr>
            </a:solidFill>
            <a:miter/>
          </a:ln>
        </p:spPr>
        <p:txBody>
          <a:bodyPr lIns="45719" rIns="45719"/>
          <a:lstStyle/>
          <a:p>
            <a:pPr/>
          </a:p>
        </p:txBody>
      </p:sp>
      <p:sp>
        <p:nvSpPr>
          <p:cNvPr id="512" name="TextBox 1"/>
          <p:cNvSpPr txBox="1"/>
          <p:nvPr/>
        </p:nvSpPr>
        <p:spPr>
          <a:xfrm>
            <a:off x="236219" y="290492"/>
            <a:ext cx="17815562" cy="7640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4800">
                <a:solidFill>
                  <a:srgbClr val="0033CC"/>
                </a:solidFill>
                <a:latin typeface="Times New Roman"/>
                <a:ea typeface="Times New Roman"/>
                <a:cs typeface="Times New Roman"/>
                <a:sym typeface="Times New Roman"/>
              </a:defRPr>
            </a:lvl1pPr>
          </a:lstStyle>
          <a:p>
            <a:pPr/>
            <a:r>
              <a:t>ADVANTAGES &amp; LIMITATIONS</a:t>
            </a:r>
          </a:p>
        </p:txBody>
      </p:sp>
      <p:sp>
        <p:nvSpPr>
          <p:cNvPr id="513" name="ADVANTAGES:…"/>
          <p:cNvSpPr txBox="1"/>
          <p:nvPr/>
        </p:nvSpPr>
        <p:spPr>
          <a:xfrm>
            <a:off x="2458033" y="2078449"/>
            <a:ext cx="10991290" cy="2666056"/>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sz="3000">
                <a:latin typeface="Times New Roman"/>
                <a:ea typeface="Times New Roman"/>
                <a:cs typeface="Times New Roman"/>
                <a:sym typeface="Times New Roman"/>
              </a:defRPr>
            </a:pPr>
            <a:r>
              <a:t>ADVANTAGES:</a:t>
            </a:r>
          </a:p>
          <a:p>
            <a:pPr marL="228600" indent="-228600">
              <a:buSzPct val="100000"/>
              <a:buAutoNum type="arabicPeriod" startAt="1"/>
              <a:defRPr sz="3000">
                <a:latin typeface="Times New Roman"/>
                <a:ea typeface="Times New Roman"/>
                <a:cs typeface="Times New Roman"/>
                <a:sym typeface="Times New Roman"/>
              </a:defRPr>
            </a:pPr>
            <a:r>
              <a:t> Provides a centralized platform to view events from multiple sources</a:t>
            </a:r>
          </a:p>
          <a:p>
            <a:pPr marL="228600" indent="-228600">
              <a:buSzPct val="100000"/>
              <a:buAutoNum type="arabicPeriod" startAt="1"/>
              <a:defRPr sz="3000">
                <a:latin typeface="Times New Roman"/>
                <a:ea typeface="Times New Roman"/>
                <a:cs typeface="Times New Roman"/>
                <a:sym typeface="Times New Roman"/>
              </a:defRPr>
            </a:pPr>
            <a:r>
              <a:t> Easy and user-friendly interface</a:t>
            </a:r>
          </a:p>
          <a:p>
            <a:pPr marL="228600" indent="-228600">
              <a:buSzPct val="100000"/>
              <a:buAutoNum type="arabicPeriod" startAt="1"/>
              <a:defRPr sz="3000">
                <a:latin typeface="Times New Roman"/>
                <a:ea typeface="Times New Roman"/>
                <a:cs typeface="Times New Roman"/>
                <a:sym typeface="Times New Roman"/>
              </a:defRPr>
            </a:pPr>
            <a:r>
              <a:t>Allows users to select seats and book multiple tickets</a:t>
            </a:r>
          </a:p>
          <a:p>
            <a:pPr marL="228600" indent="-228600">
              <a:buSzPct val="100000"/>
              <a:buAutoNum type="arabicPeriod" startAt="1"/>
              <a:defRPr sz="3000">
                <a:latin typeface="Times New Roman"/>
                <a:ea typeface="Times New Roman"/>
                <a:cs typeface="Times New Roman"/>
                <a:sym typeface="Times New Roman"/>
              </a:defRPr>
            </a:pPr>
            <a:r>
              <a:t>Reduces manual effort and saves time</a:t>
            </a:r>
          </a:p>
          <a:p>
            <a:pPr marL="228600" indent="-228600">
              <a:buSzPct val="100000"/>
              <a:buAutoNum type="arabicPeriod" startAt="1"/>
              <a:defRPr sz="3000">
                <a:latin typeface="Times New Roman"/>
                <a:ea typeface="Times New Roman"/>
                <a:cs typeface="Times New Roman"/>
                <a:sym typeface="Times New Roman"/>
              </a:defRPr>
            </a:pPr>
            <a:r>
              <a:t>Stores all booking details in one place for easy access</a:t>
            </a:r>
          </a:p>
        </p:txBody>
      </p:sp>
      <p:sp>
        <p:nvSpPr>
          <p:cNvPr id="514" name="DISADVANTAGES:…"/>
          <p:cNvSpPr txBox="1"/>
          <p:nvPr/>
        </p:nvSpPr>
        <p:spPr>
          <a:xfrm>
            <a:off x="2522761" y="4889972"/>
            <a:ext cx="15375887" cy="13706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3000">
                <a:latin typeface="Times New Roman"/>
                <a:ea typeface="Times New Roman"/>
                <a:cs typeface="Times New Roman"/>
                <a:sym typeface="Times New Roman"/>
              </a:defRPr>
            </a:pPr>
            <a:r>
              <a:t>DISADVANTAGES:</a:t>
            </a:r>
          </a:p>
          <a:p>
            <a:pPr>
              <a:defRPr sz="3000">
                <a:latin typeface="Times New Roman"/>
                <a:ea typeface="Times New Roman"/>
                <a:cs typeface="Times New Roman"/>
                <a:sym typeface="Times New Roman"/>
              </a:defRPr>
            </a:pPr>
            <a:r>
              <a:t>1.Needs Internet connection</a:t>
            </a:r>
          </a:p>
          <a:p>
            <a:pPr>
              <a:defRPr sz="3000">
                <a:latin typeface="Times New Roman"/>
                <a:ea typeface="Times New Roman"/>
                <a:cs typeface="Times New Roman"/>
                <a:sym typeface="Times New Roman"/>
              </a:defRPr>
            </a:pPr>
            <a:r>
              <a:t>2.Not integrated to perform in Real Time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E"/>
        </a:solidFill>
      </p:bgPr>
    </p:bg>
    <p:spTree>
      <p:nvGrpSpPr>
        <p:cNvPr id="1" name=""/>
        <p:cNvGrpSpPr/>
        <p:nvPr/>
      </p:nvGrpSpPr>
      <p:grpSpPr>
        <a:xfrm>
          <a:off x="0" y="0"/>
          <a:ext cx="0" cy="0"/>
          <a:chOff x="0" y="0"/>
          <a:chExt cx="0" cy="0"/>
        </a:xfrm>
      </p:grpSpPr>
      <p:sp>
        <p:nvSpPr>
          <p:cNvPr id="516" name="Freeform 32"/>
          <p:cNvSpPr/>
          <p:nvPr/>
        </p:nvSpPr>
        <p:spPr>
          <a:xfrm>
            <a:off x="16313419" y="1028699"/>
            <a:ext cx="945881" cy="236471"/>
          </a:xfrm>
          <a:prstGeom prst="rect">
            <a:avLst/>
          </a:prstGeom>
          <a:blipFill>
            <a:blip r:embed="rId2"/>
            <a:stretch>
              <a:fillRect/>
            </a:stretch>
          </a:blipFill>
          <a:ln w="12700">
            <a:miter lim="400000"/>
          </a:ln>
        </p:spPr>
        <p:txBody>
          <a:bodyPr lIns="45719" rIns="45719"/>
          <a:lstStyle/>
          <a:p>
            <a:pPr/>
          </a:p>
        </p:txBody>
      </p:sp>
      <p:sp>
        <p:nvSpPr>
          <p:cNvPr id="517" name="TextBox 43"/>
          <p:cNvSpPr txBox="1"/>
          <p:nvPr/>
        </p:nvSpPr>
        <p:spPr>
          <a:xfrm>
            <a:off x="3200400" y="4486171"/>
            <a:ext cx="11159653" cy="1350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0100"/>
              </a:lnSpc>
              <a:defRPr b="1" i="1" sz="11100">
                <a:solidFill>
                  <a:srgbClr val="191919"/>
                </a:solidFill>
                <a:latin typeface="Gotham Bold Italics"/>
                <a:ea typeface="Gotham Bold Italics"/>
                <a:cs typeface="Gotham Bold Italics"/>
                <a:sym typeface="Gotham Bold Italics"/>
              </a:defRPr>
            </a:lvl1pPr>
          </a:lstStyle>
          <a:p>
            <a:pPr/>
            <a:r>
              <a:t>Thank you</a:t>
            </a:r>
          </a:p>
        </p:txBody>
      </p:sp>
      <p:sp>
        <p:nvSpPr>
          <p:cNvPr id="518" name="Freeform 45"/>
          <p:cNvSpPr/>
          <p:nvPr/>
        </p:nvSpPr>
        <p:spPr>
          <a:xfrm>
            <a:off x="16786360" y="-353712"/>
            <a:ext cx="10994424" cy="10994424"/>
          </a:xfrm>
          <a:prstGeom prst="ellipse">
            <a:avLst/>
          </a:prstGeom>
          <a:ln w="619125" cap="sq">
            <a:solidFill>
              <a:srgbClr val="FD6220">
                <a:alpha val="11765"/>
              </a:srgbClr>
            </a:solidFill>
            <a:miter/>
          </a:ln>
        </p:spPr>
        <p:txBody>
          <a:bodyPr lIns="45719" rIns="45719"/>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