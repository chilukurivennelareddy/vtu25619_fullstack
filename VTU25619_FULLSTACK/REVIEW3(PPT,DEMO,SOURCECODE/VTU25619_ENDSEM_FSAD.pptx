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sz="quarter"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quarter"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quarter"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Freeform 11"/>
          <p:cNvSpPr/>
          <p:nvPr/>
        </p:nvSpPr>
        <p:spPr>
          <a:xfrm>
            <a:off x="11762088" y="-9632634"/>
            <a:ext cx="10994424" cy="10994424"/>
          </a:xfrm>
          <a:prstGeom prst="ellipse">
            <a:avLst/>
          </a:prstGeom>
          <a:ln w="514350" cap="sq">
            <a:solidFill>
              <a:srgbClr val="FD6220">
                <a:alpha val="11765"/>
              </a:srgbClr>
            </a:solidFill>
            <a:miter/>
          </a:ln>
        </p:spPr>
        <p:txBody>
          <a:bodyPr lIns="45719" rIns="45719"/>
          <a:lstStyle/>
          <a:p>
            <a:pPr/>
          </a:p>
        </p:txBody>
      </p:sp>
      <p:sp>
        <p:nvSpPr>
          <p:cNvPr id="95" name="Freeform 20"/>
          <p:cNvSpPr/>
          <p:nvPr/>
        </p:nvSpPr>
        <p:spPr>
          <a:xfrm>
            <a:off x="-9965724" y="-1383136"/>
            <a:ext cx="10994424" cy="10994424"/>
          </a:xfrm>
          <a:prstGeom prst="ellipse">
            <a:avLst/>
          </a:prstGeom>
          <a:ln w="514350" cap="sq">
            <a:solidFill>
              <a:srgbClr val="FD6220">
                <a:alpha val="11765"/>
              </a:srgbClr>
            </a:solidFill>
            <a:miter/>
          </a:ln>
        </p:spPr>
        <p:txBody>
          <a:bodyPr lIns="45719" rIns="45719"/>
          <a:lstStyle/>
          <a:p>
            <a:pPr/>
          </a:p>
        </p:txBody>
      </p:sp>
      <p:pic>
        <p:nvPicPr>
          <p:cNvPr id="96" name="Picture 22" descr="Picture 22"/>
          <p:cNvPicPr>
            <a:picLocks noChangeAspect="1"/>
          </p:cNvPicPr>
          <p:nvPr/>
        </p:nvPicPr>
        <p:blipFill>
          <a:blip r:embed="rId2">
            <a:extLst/>
          </a:blip>
          <a:stretch>
            <a:fillRect/>
          </a:stretch>
        </p:blipFill>
        <p:spPr>
          <a:xfrm>
            <a:off x="6799771" y="16491"/>
            <a:ext cx="4131817" cy="1784624"/>
          </a:xfrm>
          <a:prstGeom prst="rect">
            <a:avLst/>
          </a:prstGeom>
          <a:ln w="12700">
            <a:miter lim="400000"/>
          </a:ln>
        </p:spPr>
      </p:pic>
      <p:sp>
        <p:nvSpPr>
          <p:cNvPr id="97" name="TextBox 23"/>
          <p:cNvSpPr txBox="1"/>
          <p:nvPr/>
        </p:nvSpPr>
        <p:spPr>
          <a:xfrm>
            <a:off x="1405721" y="1608481"/>
            <a:ext cx="15834362" cy="156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latin typeface="Cambria"/>
                <a:ea typeface="Cambria"/>
                <a:cs typeface="Cambria"/>
                <a:sym typeface="Cambria"/>
              </a:defRPr>
            </a:pPr>
            <a:r>
              <a:t>Vel Tech Rangarajan Dr. Sagunthala R&amp;D Institute of Science and Technology</a:t>
            </a:r>
          </a:p>
          <a:p>
            <a:pPr algn="ctr">
              <a:defRPr sz="3600">
                <a:latin typeface="Cambria"/>
                <a:ea typeface="Cambria"/>
                <a:cs typeface="Cambria"/>
                <a:sym typeface="Cambria"/>
              </a:defRPr>
            </a:pPr>
            <a:r>
              <a:t>School of Computing </a:t>
            </a:r>
          </a:p>
          <a:p>
            <a:pPr algn="ctr">
              <a:defRPr sz="3200">
                <a:latin typeface="Cambria"/>
                <a:ea typeface="Cambria"/>
                <a:cs typeface="Cambria"/>
                <a:sym typeface="Cambria"/>
              </a:defRPr>
            </a:pPr>
            <a:r>
              <a:t>Department of Computer Science and Engineering</a:t>
            </a:r>
          </a:p>
        </p:txBody>
      </p:sp>
      <p:sp>
        <p:nvSpPr>
          <p:cNvPr id="98" name="TextBox 25"/>
          <p:cNvSpPr txBox="1"/>
          <p:nvPr/>
        </p:nvSpPr>
        <p:spPr>
          <a:xfrm>
            <a:off x="1738554" y="3272356"/>
            <a:ext cx="15168697"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solidFill>
                  <a:srgbClr val="0033CC"/>
                </a:solidFill>
                <a:latin typeface="Bookman Old Style"/>
                <a:ea typeface="Bookman Old Style"/>
                <a:cs typeface="Bookman Old Style"/>
                <a:sym typeface="Bookman Old Style"/>
              </a:defRPr>
            </a:lvl1pPr>
          </a:lstStyle>
          <a:p>
            <a:pPr/>
            <a:r>
              <a:t>10211CS224 / FULL STACK APPLICATION DEVELOPMENT (JAVA)</a:t>
            </a:r>
          </a:p>
        </p:txBody>
      </p:sp>
      <p:sp>
        <p:nvSpPr>
          <p:cNvPr id="99" name="TextBox 26"/>
          <p:cNvSpPr txBox="1"/>
          <p:nvPr/>
        </p:nvSpPr>
        <p:spPr>
          <a:xfrm>
            <a:off x="3773477" y="3897939"/>
            <a:ext cx="11098849" cy="16766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3600">
                <a:solidFill>
                  <a:srgbClr val="C00000"/>
                </a:solidFill>
                <a:latin typeface="Arial"/>
                <a:ea typeface="Arial"/>
                <a:cs typeface="Arial"/>
                <a:sym typeface="Arial"/>
              </a:defRPr>
            </a:pPr>
            <a:r>
              <a:t>END SEMESTER PROJECT REVIEW</a:t>
            </a:r>
          </a:p>
          <a:p>
            <a:pPr algn="ctr">
              <a:defRPr b="1" sz="3600">
                <a:solidFill>
                  <a:srgbClr val="C00000"/>
                </a:solidFill>
                <a:latin typeface="Arial"/>
                <a:ea typeface="Arial"/>
                <a:cs typeface="Arial"/>
                <a:sym typeface="Arial"/>
              </a:defRPr>
            </a:pPr>
          </a:p>
          <a:p>
            <a:pPr algn="ctr">
              <a:defRPr b="1" sz="3600">
                <a:solidFill>
                  <a:srgbClr val="C00000"/>
                </a:solidFill>
                <a:latin typeface="Arial"/>
                <a:ea typeface="Arial"/>
                <a:cs typeface="Arial"/>
                <a:sym typeface="Arial"/>
              </a:defRPr>
            </a:pPr>
            <a:r>
              <a:t>Date: 06-05-2026</a:t>
            </a:r>
          </a:p>
        </p:txBody>
      </p:sp>
      <p:sp>
        <p:nvSpPr>
          <p:cNvPr id="100" name="TextBox 12"/>
          <p:cNvSpPr txBox="1"/>
          <p:nvPr/>
        </p:nvSpPr>
        <p:spPr>
          <a:xfrm>
            <a:off x="1547359" y="6057900"/>
            <a:ext cx="15692724" cy="535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latin typeface="Bookman Old Style"/>
                <a:ea typeface="Bookman Old Style"/>
                <a:cs typeface="Bookman Old Style"/>
                <a:sym typeface="Bookman Old Style"/>
              </a:defRPr>
            </a:lvl1pPr>
          </a:lstStyle>
          <a:p>
            <a:pPr/>
            <a:r>
              <a:t>          NEXORA: A SMART EVENT MANAGEMENT SYSTEM FOR COLLEGES</a:t>
            </a:r>
          </a:p>
        </p:txBody>
      </p:sp>
      <p:sp>
        <p:nvSpPr>
          <p:cNvPr id="101" name="TextBox 13"/>
          <p:cNvSpPr txBox="1"/>
          <p:nvPr/>
        </p:nvSpPr>
        <p:spPr>
          <a:xfrm>
            <a:off x="619683" y="7853597"/>
            <a:ext cx="10162959" cy="123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Presented By:</a:t>
            </a:r>
          </a:p>
          <a:p>
            <a:pPr>
              <a:lnSpc>
                <a:spcPct val="150000"/>
              </a:lnSpc>
              <a:defRPr sz="3000">
                <a:latin typeface="Cambria"/>
                <a:ea typeface="Cambria"/>
                <a:cs typeface="Cambria"/>
                <a:sym typeface="Cambria"/>
              </a:defRPr>
            </a:pPr>
            <a:r>
              <a:t>CH.VENNELA REDDY– VTU25619-Reg.No.23UECS0956</a:t>
            </a:r>
          </a:p>
        </p:txBody>
      </p:sp>
      <p:sp>
        <p:nvSpPr>
          <p:cNvPr id="102" name="TextBox 14"/>
          <p:cNvSpPr txBox="1"/>
          <p:nvPr/>
        </p:nvSpPr>
        <p:spPr>
          <a:xfrm>
            <a:off x="10990754" y="7818586"/>
            <a:ext cx="6823163" cy="1221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Courses Handling Faculty:</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000">
                <a:latin typeface="Bookman Old Style"/>
                <a:ea typeface="Bookman Old Style"/>
                <a:cs typeface="Bookman Old Style"/>
                <a:sym typeface="Bookman Old Style"/>
              </a:defRPr>
            </a:pPr>
            <a:r>
              <a:t>Dr.S.Hemamalini,M.E,Ph.D.</a:t>
            </a:r>
          </a:p>
        </p:txBody>
      </p:sp>
      <p:sp>
        <p:nvSpPr>
          <p:cNvPr id="103" name="TextBox 15"/>
          <p:cNvSpPr txBox="1"/>
          <p:nvPr/>
        </p:nvSpPr>
        <p:spPr>
          <a:xfrm>
            <a:off x="2255520" y="6972300"/>
            <a:ext cx="14651731" cy="383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latin typeface="Cambria"/>
                <a:ea typeface="Cambria"/>
                <a:cs typeface="Cambria"/>
                <a:sym typeface="Cambria"/>
              </a:defRPr>
            </a:lvl1pPr>
          </a:lstStyle>
          <a:p>
            <a:pPr/>
            <a:r>
              <a:t>SDG: SDG 4 – Quality Education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07" name="Group 9"/>
          <p:cNvGrpSpPr/>
          <p:nvPr/>
        </p:nvGrpSpPr>
        <p:grpSpPr>
          <a:xfrm>
            <a:off x="706081" y="1952202"/>
            <a:ext cx="992464" cy="992464"/>
            <a:chOff x="0" y="0"/>
            <a:chExt cx="992462" cy="992462"/>
          </a:xfrm>
        </p:grpSpPr>
        <p:sp>
          <p:nvSpPr>
            <p:cNvPr id="105" name="Freeform 1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06" name="TextBox 1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1</a:t>
              </a:r>
            </a:p>
          </p:txBody>
        </p:sp>
      </p:grpSp>
      <p:grpSp>
        <p:nvGrpSpPr>
          <p:cNvPr id="110" name="Group 12"/>
          <p:cNvGrpSpPr/>
          <p:nvPr/>
        </p:nvGrpSpPr>
        <p:grpSpPr>
          <a:xfrm>
            <a:off x="948235" y="4447339"/>
            <a:ext cx="508159" cy="543806"/>
            <a:chOff x="0" y="0"/>
            <a:chExt cx="508157" cy="543804"/>
          </a:xfrm>
        </p:grpSpPr>
        <p:sp>
          <p:nvSpPr>
            <p:cNvPr id="108" name="Freeform 1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09" name="TextBox 1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13" name="Group 15"/>
          <p:cNvGrpSpPr/>
          <p:nvPr/>
        </p:nvGrpSpPr>
        <p:grpSpPr>
          <a:xfrm>
            <a:off x="948235" y="3107362"/>
            <a:ext cx="508159" cy="543806"/>
            <a:chOff x="0" y="0"/>
            <a:chExt cx="508157" cy="543804"/>
          </a:xfrm>
        </p:grpSpPr>
        <p:sp>
          <p:nvSpPr>
            <p:cNvPr id="111" name="Freeform 1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2" name="TextBox 1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16" name="Group 18"/>
          <p:cNvGrpSpPr/>
          <p:nvPr/>
        </p:nvGrpSpPr>
        <p:grpSpPr>
          <a:xfrm>
            <a:off x="948235" y="5115752"/>
            <a:ext cx="508159" cy="543806"/>
            <a:chOff x="0" y="0"/>
            <a:chExt cx="508157" cy="543804"/>
          </a:xfrm>
        </p:grpSpPr>
        <p:sp>
          <p:nvSpPr>
            <p:cNvPr id="114" name="Freeform 1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5" name="TextBox 2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19" name="Group 21"/>
          <p:cNvGrpSpPr/>
          <p:nvPr/>
        </p:nvGrpSpPr>
        <p:grpSpPr>
          <a:xfrm>
            <a:off x="948235" y="3776486"/>
            <a:ext cx="508159" cy="543806"/>
            <a:chOff x="0" y="0"/>
            <a:chExt cx="508157" cy="543804"/>
          </a:xfrm>
        </p:grpSpPr>
        <p:sp>
          <p:nvSpPr>
            <p:cNvPr id="117" name="Freeform 2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8" name="TextBox 2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22" name="Group 24"/>
          <p:cNvGrpSpPr/>
          <p:nvPr/>
        </p:nvGrpSpPr>
        <p:grpSpPr>
          <a:xfrm>
            <a:off x="948235" y="6455729"/>
            <a:ext cx="508159" cy="543806"/>
            <a:chOff x="0" y="0"/>
            <a:chExt cx="508157" cy="543804"/>
          </a:xfrm>
        </p:grpSpPr>
        <p:sp>
          <p:nvSpPr>
            <p:cNvPr id="120" name="Freeform 2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1" name="TextBox 2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25" name="Group 27"/>
          <p:cNvGrpSpPr/>
          <p:nvPr/>
        </p:nvGrpSpPr>
        <p:grpSpPr>
          <a:xfrm>
            <a:off x="948235" y="5784877"/>
            <a:ext cx="508159" cy="543806"/>
            <a:chOff x="0" y="0"/>
            <a:chExt cx="508157" cy="543804"/>
          </a:xfrm>
        </p:grpSpPr>
        <p:sp>
          <p:nvSpPr>
            <p:cNvPr id="123" name="Freeform 2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4" name="TextBox 2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28" name="Group 36"/>
          <p:cNvGrpSpPr/>
          <p:nvPr/>
        </p:nvGrpSpPr>
        <p:grpSpPr>
          <a:xfrm>
            <a:off x="948235" y="7123361"/>
            <a:ext cx="508159" cy="543806"/>
            <a:chOff x="0" y="0"/>
            <a:chExt cx="508157" cy="543804"/>
          </a:xfrm>
        </p:grpSpPr>
        <p:sp>
          <p:nvSpPr>
            <p:cNvPr id="126"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7"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31" name="Group 39"/>
          <p:cNvGrpSpPr/>
          <p:nvPr/>
        </p:nvGrpSpPr>
        <p:grpSpPr>
          <a:xfrm>
            <a:off x="948235" y="7790991"/>
            <a:ext cx="508159" cy="543806"/>
            <a:chOff x="0" y="0"/>
            <a:chExt cx="508157" cy="543804"/>
          </a:xfrm>
        </p:grpSpPr>
        <p:sp>
          <p:nvSpPr>
            <p:cNvPr id="129"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30"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32" name="TextBox 1"/>
          <p:cNvSpPr txBox="1"/>
          <p:nvPr/>
        </p:nvSpPr>
        <p:spPr>
          <a:xfrm>
            <a:off x="198120" y="342899"/>
            <a:ext cx="157581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INTRODUCTION</a:t>
            </a:r>
          </a:p>
        </p:txBody>
      </p:sp>
      <p:sp>
        <p:nvSpPr>
          <p:cNvPr id="133" name="Freeform 38"/>
          <p:cNvSpPr/>
          <p:nvPr/>
        </p:nvSpPr>
        <p:spPr>
          <a:xfrm>
            <a:off x="14020800" y="-8142801"/>
            <a:ext cx="10994424" cy="10994424"/>
          </a:xfrm>
          <a:prstGeom prst="ellipse">
            <a:avLst/>
          </a:prstGeom>
          <a:ln w="514350" cap="sq">
            <a:solidFill>
              <a:srgbClr val="FD6220">
                <a:alpha val="11765"/>
              </a:srgbClr>
            </a:solidFill>
            <a:miter/>
          </a:ln>
        </p:spPr>
        <p:txBody>
          <a:bodyPr lIns="45719" rIns="45719"/>
          <a:lstStyle/>
          <a:p>
            <a:pPr/>
          </a:p>
        </p:txBody>
      </p:sp>
      <p:sp>
        <p:nvSpPr>
          <p:cNvPr id="134" name="The Event Management System is a web-based application designed to automate and manage event-related activities.…"/>
          <p:cNvSpPr txBox="1"/>
          <p:nvPr/>
        </p:nvSpPr>
        <p:spPr>
          <a:xfrm>
            <a:off x="2755451" y="2214740"/>
            <a:ext cx="14217582" cy="55373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defTabSz="457200">
              <a:spcBef>
                <a:spcPts val="1300"/>
              </a:spcBef>
              <a:buSzPct val="100000"/>
              <a:buAutoNum type="arabicPeriod" startAt="1"/>
              <a:defRPr sz="2800">
                <a:latin typeface="Times New Roman"/>
                <a:ea typeface="Times New Roman"/>
                <a:cs typeface="Times New Roman"/>
                <a:sym typeface="Times New Roman"/>
              </a:defRPr>
            </a:pPr>
            <a:r>
              <a:t>The Event Management System is a web-based application designed to automate and manage event-related activities.</a:t>
            </a:r>
          </a:p>
          <a:p>
            <a:pPr marL="228600" indent="-228600" defTabSz="457200">
              <a:spcBef>
                <a:spcPts val="1300"/>
              </a:spcBef>
              <a:buSzPct val="100000"/>
              <a:buAutoNum type="arabicPeriod" startAt="1"/>
              <a:defRPr sz="2800">
                <a:latin typeface="Times New Roman"/>
                <a:ea typeface="Times New Roman"/>
                <a:cs typeface="Times New Roman"/>
                <a:sym typeface="Times New Roman"/>
              </a:defRPr>
            </a:pPr>
            <a:r>
              <a:t>It allows students to browse events, register, make payments, and download certificates easily.</a:t>
            </a:r>
          </a:p>
          <a:p>
            <a:pPr marL="228600" indent="-228600" defTabSz="457200">
              <a:spcBef>
                <a:spcPts val="1300"/>
              </a:spcBef>
              <a:buSzPct val="100000"/>
              <a:buAutoNum type="arabicPeriod" startAt="1"/>
              <a:defRPr sz="2800">
                <a:latin typeface="Times New Roman"/>
                <a:ea typeface="Times New Roman"/>
                <a:cs typeface="Times New Roman"/>
                <a:sym typeface="Times New Roman"/>
              </a:defRPr>
            </a:pPr>
            <a:r>
              <a:t>Administrators can create and manage events, view registered students, and track attendance.</a:t>
            </a:r>
          </a:p>
          <a:p>
            <a:pPr marL="228600" indent="-228600" defTabSz="457200">
              <a:spcBef>
                <a:spcPts val="1300"/>
              </a:spcBef>
              <a:buSzPct val="100000"/>
              <a:buAutoNum type="arabicPeriod" startAt="1"/>
              <a:defRPr sz="2800">
                <a:latin typeface="Times New Roman"/>
                <a:ea typeface="Times New Roman"/>
                <a:cs typeface="Times New Roman"/>
                <a:sym typeface="Times New Roman"/>
              </a:defRPr>
            </a:pPr>
            <a:r>
              <a:t>The system follows a three-tier architecture consisting of frontend, backend, and database layers.</a:t>
            </a:r>
          </a:p>
          <a:p>
            <a:pPr marL="228600" indent="-228600" defTabSz="457200">
              <a:spcBef>
                <a:spcPts val="1300"/>
              </a:spcBef>
              <a:buSzPct val="100000"/>
              <a:buAutoNum type="arabicPeriod" startAt="1"/>
              <a:defRPr sz="2800">
                <a:latin typeface="Times New Roman"/>
                <a:ea typeface="Times New Roman"/>
                <a:cs typeface="Times New Roman"/>
                <a:sym typeface="Times New Roman"/>
              </a:defRPr>
            </a:pPr>
            <a:r>
              <a:t>The frontend is developed using React JS, HTML, and CSS to provide an interactive user interface.</a:t>
            </a:r>
          </a:p>
          <a:p>
            <a:pPr marL="228600" indent="-228600" defTabSz="457200">
              <a:spcBef>
                <a:spcPts val="1300"/>
              </a:spcBef>
              <a:buSzPct val="100000"/>
              <a:buAutoNum type="arabicPeriod" startAt="1"/>
              <a:defRPr sz="2800">
                <a:latin typeface="Times New Roman"/>
                <a:ea typeface="Times New Roman"/>
                <a:cs typeface="Times New Roman"/>
                <a:sym typeface="Times New Roman"/>
              </a:defRPr>
            </a:pPr>
            <a:r>
              <a:t>The backend is built using PHP (XAMPP server) and uses MySQL to store user, event, and attendance data.</a:t>
            </a:r>
          </a:p>
          <a:p>
            <a:pPr marL="228600" indent="-228600" defTabSz="457200">
              <a:spcBef>
                <a:spcPts val="1300"/>
              </a:spcBef>
              <a:buSzPct val="100000"/>
              <a:buAutoNum type="arabicPeriod" startAt="1"/>
              <a:defRPr sz="2800">
                <a:latin typeface="Times New Roman"/>
                <a:ea typeface="Times New Roman"/>
                <a:cs typeface="Times New Roman"/>
                <a:sym typeface="Times New Roman"/>
              </a:defRPr>
            </a:pPr>
            <a:r>
              <a:t>It integrates third-party tools such as SendGrid (for email), FPDF (for PDF generation), and cURL, ensuring automation and efficiency.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extBox 46"/>
          <p:cNvSpPr txBox="1"/>
          <p:nvPr/>
        </p:nvSpPr>
        <p:spPr>
          <a:xfrm>
            <a:off x="45719" y="1216415"/>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PROBLEM STATEMENT</a:t>
            </a:r>
          </a:p>
        </p:txBody>
      </p:sp>
      <p:grpSp>
        <p:nvGrpSpPr>
          <p:cNvPr id="139" name="Group 11"/>
          <p:cNvGrpSpPr/>
          <p:nvPr/>
        </p:nvGrpSpPr>
        <p:grpSpPr>
          <a:xfrm>
            <a:off x="709356" y="2648112"/>
            <a:ext cx="992464" cy="992463"/>
            <a:chOff x="0" y="0"/>
            <a:chExt cx="992462" cy="992462"/>
          </a:xfrm>
        </p:grpSpPr>
        <p:sp>
          <p:nvSpPr>
            <p:cNvPr id="137" name="Freeform 12"/>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38" name="TextBox 13"/>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2</a:t>
              </a:r>
            </a:p>
          </p:txBody>
        </p:sp>
      </p:grpSp>
      <p:grpSp>
        <p:nvGrpSpPr>
          <p:cNvPr id="142" name="Group 14"/>
          <p:cNvGrpSpPr/>
          <p:nvPr/>
        </p:nvGrpSpPr>
        <p:grpSpPr>
          <a:xfrm>
            <a:off x="951508" y="4428295"/>
            <a:ext cx="508159" cy="543806"/>
            <a:chOff x="0" y="0"/>
            <a:chExt cx="508157" cy="543804"/>
          </a:xfrm>
        </p:grpSpPr>
        <p:sp>
          <p:nvSpPr>
            <p:cNvPr id="140"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1"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45" name="Group 17"/>
          <p:cNvGrpSpPr/>
          <p:nvPr/>
        </p:nvGrpSpPr>
        <p:grpSpPr>
          <a:xfrm>
            <a:off x="951508" y="1982348"/>
            <a:ext cx="508159" cy="543806"/>
            <a:chOff x="0" y="0"/>
            <a:chExt cx="508157" cy="543804"/>
          </a:xfrm>
        </p:grpSpPr>
        <p:sp>
          <p:nvSpPr>
            <p:cNvPr id="143"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4"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48" name="Group 20"/>
          <p:cNvGrpSpPr/>
          <p:nvPr/>
        </p:nvGrpSpPr>
        <p:grpSpPr>
          <a:xfrm>
            <a:off x="951508" y="5094058"/>
            <a:ext cx="508159" cy="543806"/>
            <a:chOff x="0" y="0"/>
            <a:chExt cx="508157" cy="543804"/>
          </a:xfrm>
        </p:grpSpPr>
        <p:sp>
          <p:nvSpPr>
            <p:cNvPr id="146"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7"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51" name="Group 23"/>
          <p:cNvGrpSpPr/>
          <p:nvPr/>
        </p:nvGrpSpPr>
        <p:grpSpPr>
          <a:xfrm>
            <a:off x="951508" y="3762533"/>
            <a:ext cx="508159" cy="543806"/>
            <a:chOff x="0" y="0"/>
            <a:chExt cx="508157" cy="543804"/>
          </a:xfrm>
        </p:grpSpPr>
        <p:sp>
          <p:nvSpPr>
            <p:cNvPr id="149"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0"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54" name="Group 26"/>
          <p:cNvGrpSpPr/>
          <p:nvPr/>
        </p:nvGrpSpPr>
        <p:grpSpPr>
          <a:xfrm>
            <a:off x="951508" y="6425584"/>
            <a:ext cx="508159" cy="543806"/>
            <a:chOff x="0" y="0"/>
            <a:chExt cx="508157" cy="543804"/>
          </a:xfrm>
        </p:grpSpPr>
        <p:sp>
          <p:nvSpPr>
            <p:cNvPr id="152"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3"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57" name="Group 29"/>
          <p:cNvGrpSpPr/>
          <p:nvPr/>
        </p:nvGrpSpPr>
        <p:grpSpPr>
          <a:xfrm>
            <a:off x="951508" y="5759822"/>
            <a:ext cx="508159" cy="543806"/>
            <a:chOff x="0" y="0"/>
            <a:chExt cx="508157" cy="543804"/>
          </a:xfrm>
        </p:grpSpPr>
        <p:sp>
          <p:nvSpPr>
            <p:cNvPr id="155"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6"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60" name="Group 36"/>
          <p:cNvGrpSpPr/>
          <p:nvPr/>
        </p:nvGrpSpPr>
        <p:grpSpPr>
          <a:xfrm>
            <a:off x="951508" y="7093215"/>
            <a:ext cx="508159" cy="543806"/>
            <a:chOff x="0" y="0"/>
            <a:chExt cx="508157" cy="543804"/>
          </a:xfrm>
        </p:grpSpPr>
        <p:sp>
          <p:nvSpPr>
            <p:cNvPr id="158"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9"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63" name="Group 39"/>
          <p:cNvGrpSpPr/>
          <p:nvPr/>
        </p:nvGrpSpPr>
        <p:grpSpPr>
          <a:xfrm>
            <a:off x="951508" y="7760845"/>
            <a:ext cx="508159" cy="543806"/>
            <a:chOff x="0" y="0"/>
            <a:chExt cx="508157" cy="543804"/>
          </a:xfrm>
        </p:grpSpPr>
        <p:sp>
          <p:nvSpPr>
            <p:cNvPr id="161"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62"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64" name="TextBox 47"/>
          <p:cNvSpPr txBox="1"/>
          <p:nvPr/>
        </p:nvSpPr>
        <p:spPr>
          <a:xfrm>
            <a:off x="3000455" y="2431145"/>
            <a:ext cx="12287090" cy="117604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500"/>
              </a:spcBef>
              <a:defRPr sz="2800">
                <a:latin typeface="Times Roman"/>
                <a:ea typeface="Times Roman"/>
                <a:cs typeface="Times Roman"/>
                <a:sym typeface="Times Roman"/>
              </a:defRPr>
            </a:pPr>
            <a:r>
              <a:t>In many institutions, event management and certificate distribution are often handled manually or through partially automated systems, which leads to inefficiencies and delays. The process of verifying attendance and generating certificates is time-consuming and prone to errors, making it difficult for students to receive their certificates on time. Administrators also face challenges in managing registrations, tracking attendance, and issuing certificates efficiently. Due to the lack of a centralized and automated system, overall performance and accuracy are affected. Therefore, there is a need for a fast, reliable, and fully automated solution that can streamline event management and enable quick certificate generation and delivery, ensuring improved efficiency and user experience.</a:t>
            </a: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a:p>
            <a:pPr marL="457199" indent="-457199">
              <a:spcBef>
                <a:spcPts val="500"/>
              </a:spcBef>
              <a:buSzPct val="100000"/>
              <a:buChar char="-"/>
              <a:defRPr sz="2800"/>
            </a:pPr>
          </a:p>
        </p:txBody>
      </p:sp>
      <p:sp>
        <p:nvSpPr>
          <p:cNvPr id="165" name="Freeform 38"/>
          <p:cNvSpPr/>
          <p:nvPr/>
        </p:nvSpPr>
        <p:spPr>
          <a:xfrm>
            <a:off x="14020800" y="-8142801"/>
            <a:ext cx="10994424" cy="10994424"/>
          </a:xfrm>
          <a:prstGeom prst="ellipse">
            <a:avLst/>
          </a:prstGeom>
          <a:ln w="514350"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9" name="Group 7"/>
          <p:cNvGrpSpPr/>
          <p:nvPr/>
        </p:nvGrpSpPr>
        <p:grpSpPr>
          <a:xfrm>
            <a:off x="709356" y="3315742"/>
            <a:ext cx="992464" cy="992464"/>
            <a:chOff x="0" y="0"/>
            <a:chExt cx="992462" cy="992462"/>
          </a:xfrm>
        </p:grpSpPr>
        <p:sp>
          <p:nvSpPr>
            <p:cNvPr id="16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68"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3</a:t>
              </a:r>
            </a:p>
          </p:txBody>
        </p:sp>
      </p:grpSp>
      <p:grpSp>
        <p:nvGrpSpPr>
          <p:cNvPr id="172" name="Group 10"/>
          <p:cNvGrpSpPr/>
          <p:nvPr/>
        </p:nvGrpSpPr>
        <p:grpSpPr>
          <a:xfrm>
            <a:off x="951508" y="4428295"/>
            <a:ext cx="508159" cy="543806"/>
            <a:chOff x="0" y="0"/>
            <a:chExt cx="508157" cy="543804"/>
          </a:xfrm>
        </p:grpSpPr>
        <p:sp>
          <p:nvSpPr>
            <p:cNvPr id="17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75" name="Group 13"/>
          <p:cNvGrpSpPr/>
          <p:nvPr/>
        </p:nvGrpSpPr>
        <p:grpSpPr>
          <a:xfrm>
            <a:off x="951508" y="1982348"/>
            <a:ext cx="508159" cy="543806"/>
            <a:chOff x="0" y="0"/>
            <a:chExt cx="508157" cy="543804"/>
          </a:xfrm>
        </p:grpSpPr>
        <p:sp>
          <p:nvSpPr>
            <p:cNvPr id="17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78" name="Group 16"/>
          <p:cNvGrpSpPr/>
          <p:nvPr/>
        </p:nvGrpSpPr>
        <p:grpSpPr>
          <a:xfrm>
            <a:off x="951508" y="5094058"/>
            <a:ext cx="508159" cy="543806"/>
            <a:chOff x="0" y="0"/>
            <a:chExt cx="508157" cy="543804"/>
          </a:xfrm>
        </p:grpSpPr>
        <p:sp>
          <p:nvSpPr>
            <p:cNvPr id="17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81" name="Group 19"/>
          <p:cNvGrpSpPr/>
          <p:nvPr/>
        </p:nvGrpSpPr>
        <p:grpSpPr>
          <a:xfrm>
            <a:off x="951508" y="2648112"/>
            <a:ext cx="508159" cy="543806"/>
            <a:chOff x="0" y="0"/>
            <a:chExt cx="508157" cy="543804"/>
          </a:xfrm>
        </p:grpSpPr>
        <p:sp>
          <p:nvSpPr>
            <p:cNvPr id="17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84" name="Group 22"/>
          <p:cNvGrpSpPr/>
          <p:nvPr/>
        </p:nvGrpSpPr>
        <p:grpSpPr>
          <a:xfrm>
            <a:off x="951508" y="6425584"/>
            <a:ext cx="508159" cy="543806"/>
            <a:chOff x="0" y="0"/>
            <a:chExt cx="508157" cy="543804"/>
          </a:xfrm>
        </p:grpSpPr>
        <p:sp>
          <p:nvSpPr>
            <p:cNvPr id="18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87" name="Group 25"/>
          <p:cNvGrpSpPr/>
          <p:nvPr/>
        </p:nvGrpSpPr>
        <p:grpSpPr>
          <a:xfrm>
            <a:off x="951508" y="5759822"/>
            <a:ext cx="508159" cy="543806"/>
            <a:chOff x="0" y="0"/>
            <a:chExt cx="508157" cy="543804"/>
          </a:xfrm>
        </p:grpSpPr>
        <p:sp>
          <p:nvSpPr>
            <p:cNvPr id="18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90" name="Group 41"/>
          <p:cNvGrpSpPr/>
          <p:nvPr/>
        </p:nvGrpSpPr>
        <p:grpSpPr>
          <a:xfrm>
            <a:off x="951508" y="7093215"/>
            <a:ext cx="508159" cy="543806"/>
            <a:chOff x="0" y="0"/>
            <a:chExt cx="508157" cy="543804"/>
          </a:xfrm>
        </p:grpSpPr>
        <p:sp>
          <p:nvSpPr>
            <p:cNvPr id="188" name="Freeform 4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9" name="TextBox 4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93" name="Group 44"/>
          <p:cNvGrpSpPr/>
          <p:nvPr/>
        </p:nvGrpSpPr>
        <p:grpSpPr>
          <a:xfrm>
            <a:off x="951508" y="7760845"/>
            <a:ext cx="508159" cy="543806"/>
            <a:chOff x="0" y="0"/>
            <a:chExt cx="508157" cy="543804"/>
          </a:xfrm>
        </p:grpSpPr>
        <p:sp>
          <p:nvSpPr>
            <p:cNvPr id="191" name="Freeform 4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92" name="TextBox 4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94" name="TextBox 49"/>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OBJECTIVE(S)</a:t>
            </a:r>
          </a:p>
        </p:txBody>
      </p:sp>
      <p:sp>
        <p:nvSpPr>
          <p:cNvPr id="195" name="Freeform 38"/>
          <p:cNvSpPr/>
          <p:nvPr/>
        </p:nvSpPr>
        <p:spPr>
          <a:xfrm>
            <a:off x="14020800" y="-8142801"/>
            <a:ext cx="10994424" cy="10994424"/>
          </a:xfrm>
          <a:prstGeom prst="ellipse">
            <a:avLst/>
          </a:prstGeom>
          <a:ln w="514350" cap="sq">
            <a:solidFill>
              <a:srgbClr val="FD6220">
                <a:alpha val="11765"/>
              </a:srgbClr>
            </a:solidFill>
            <a:miter/>
          </a:ln>
        </p:spPr>
        <p:txBody>
          <a:bodyPr lIns="45719" rIns="45719"/>
          <a:lstStyle/>
          <a:p>
            <a:pPr/>
          </a:p>
        </p:txBody>
      </p:sp>
      <p:sp>
        <p:nvSpPr>
          <p:cNvPr id="196" name="To develop an automated system for managing events, including registration, attendance tracking, and administration…"/>
          <p:cNvSpPr txBox="1"/>
          <p:nvPr/>
        </p:nvSpPr>
        <p:spPr>
          <a:xfrm>
            <a:off x="2551833" y="1931567"/>
            <a:ext cx="13944303" cy="21083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defTabSz="457200">
              <a:buSzPct val="100000"/>
              <a:buAutoNum type="arabicPeriod" startAt="1"/>
              <a:defRPr sz="2800">
                <a:latin typeface="Times New Roman"/>
                <a:ea typeface="Times New Roman"/>
                <a:cs typeface="Times New Roman"/>
                <a:sym typeface="Times New Roman"/>
              </a:defRPr>
            </a:pPr>
            <a:r>
              <a:t>To develop an automated system for managing events, including registration, attendance tracking, and administration</a:t>
            </a:r>
          </a:p>
          <a:p>
            <a:pPr marL="228600" indent="-228600" defTabSz="457200">
              <a:buSzPct val="100000"/>
              <a:buAutoNum type="arabicPeriod" startAt="1"/>
              <a:defRPr sz="2800">
                <a:latin typeface="Times New Roman"/>
                <a:ea typeface="Times New Roman"/>
                <a:cs typeface="Times New Roman"/>
                <a:sym typeface="Times New Roman"/>
              </a:defRPr>
            </a:pPr>
            <a:r>
              <a:t>To enable fast and accurate certificate generation and delivery to participants..</a:t>
            </a:r>
          </a:p>
          <a:p>
            <a:pPr marL="228600" indent="-228600" defTabSz="457200">
              <a:buSzPct val="100000"/>
              <a:buAutoNum type="arabicPeriod" startAt="1"/>
              <a:defRPr sz="2800">
                <a:latin typeface="Times New Roman"/>
                <a:ea typeface="Times New Roman"/>
                <a:cs typeface="Times New Roman"/>
                <a:sym typeface="Times New Roman"/>
              </a:defRPr>
            </a:pPr>
            <a:r>
              <a:t>To improve efficiency and reduce manual effort by integrating all event-related processes into a centralized platform.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extBox 47"/>
          <p:cNvSpPr txBox="1"/>
          <p:nvPr/>
        </p:nvSpPr>
        <p:spPr>
          <a:xfrm>
            <a:off x="2255519" y="1638299"/>
            <a:ext cx="14990886" cy="119508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The system follows a three-tier architecture: frontend, backend, and database.</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The frontend is built using React JS, HTML, and CSS for user interaction and interface.</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The backend is developed using PHP on the XAMPP server to handle business logic.</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The backend manages authentication, event registration, attendance, and certificate generation.</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The MySQL database stores user details, event data, and attendance records.</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The system uses SendGrid for sending emails and FPDF for generating certificates.</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cURL is used for communication with external APIs.</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r>
              <a:t>This architecture ensures fast processing, automation, and efficient certificate delivery.</a:t>
            </a:r>
          </a:p>
          <a:p>
            <a:pPr marL="228600" indent="-228600" defTabSz="457200">
              <a:spcBef>
                <a:spcPts val="1100"/>
              </a:spcBef>
              <a:buSzPct val="100000"/>
              <a:buAutoNum type="arabicPeriod" startAt="1"/>
              <a:defRPr sz="2800">
                <a:latin typeface="Times New Roman"/>
                <a:ea typeface="Times New Roman"/>
                <a:cs typeface="Times New Roman"/>
                <a:sym typeface="Times New Roman"/>
              </a:defRPr>
            </a:pPr>
          </a:p>
          <a:p>
            <a:pPr lvl="1" marL="228600" indent="0">
              <a:spcBef>
                <a:spcPts val="1100"/>
              </a:spcBef>
              <a:buSzPct val="100000"/>
              <a:buAutoNum type="arabicPeriod" startAt="1"/>
              <a:defRPr sz="2800">
                <a:latin typeface="Times New Roman"/>
                <a:ea typeface="Times New Roman"/>
                <a:cs typeface="Times New Roman"/>
                <a:sym typeface="Times New Roman"/>
              </a:defRPr>
            </a:pPr>
          </a:p>
          <a:p>
            <a:pPr marL="228600" indent="-228600">
              <a:spcBef>
                <a:spcPts val="1100"/>
              </a:spcBef>
              <a:buSzPct val="100000"/>
              <a:buAutoNum type="arabicPeriod" startAt="10"/>
              <a:defRPr sz="2800">
                <a:latin typeface="Times New Roman"/>
                <a:ea typeface="Times New Roman"/>
                <a:cs typeface="Times New Roman"/>
                <a:sym typeface="Times New Roman"/>
              </a:defRPr>
            </a:pPr>
          </a:p>
          <a:p>
            <a:pPr marL="228600" indent="-228600">
              <a:spcBef>
                <a:spcPts val="1100"/>
              </a:spcBef>
              <a:buSzPct val="100000"/>
              <a:buAutoNum type="arabicPeriod" startAt="11"/>
              <a:defRPr sz="2800">
                <a:latin typeface="Times New Roman"/>
                <a:ea typeface="Times New Roman"/>
                <a:cs typeface="Times New Roman"/>
                <a:sym typeface="Times New Roman"/>
              </a:defRPr>
            </a:pPr>
          </a:p>
          <a:p>
            <a:pPr marL="228600" indent="-228600">
              <a:spcBef>
                <a:spcPts val="1100"/>
              </a:spcBef>
              <a:buSzPct val="100000"/>
              <a:buAutoNum type="arabicPeriod" startAt="12"/>
              <a:defRPr sz="2800">
                <a:latin typeface="Times New Roman"/>
                <a:ea typeface="Times New Roman"/>
                <a:cs typeface="Times New Roman"/>
                <a:sym typeface="Times New Roman"/>
              </a:defRPr>
            </a:pPr>
          </a:p>
          <a:p>
            <a:pPr marL="228600" indent="-228600">
              <a:spcBef>
                <a:spcPts val="1100"/>
              </a:spcBef>
              <a:buSzPct val="100000"/>
              <a:buAutoNum type="arabicPeriod" startAt="13"/>
              <a:defRPr sz="2800">
                <a:latin typeface="Times New Roman"/>
                <a:ea typeface="Times New Roman"/>
                <a:cs typeface="Times New Roman"/>
                <a:sym typeface="Times New Roman"/>
              </a:defRPr>
            </a:pPr>
          </a:p>
          <a:p>
            <a:pPr marL="228600" indent="-228600">
              <a:spcBef>
                <a:spcPts val="1100"/>
              </a:spcBef>
              <a:buSzPct val="100000"/>
              <a:buAutoNum type="arabicPeriod" startAt="14"/>
              <a:defRPr sz="2800">
                <a:latin typeface="Times New Roman"/>
                <a:ea typeface="Times New Roman"/>
                <a:cs typeface="Times New Roman"/>
                <a:sym typeface="Times New Roman"/>
              </a:defRPr>
            </a:pPr>
          </a:p>
          <a:p>
            <a:pPr marL="228600" indent="-228600">
              <a:spcBef>
                <a:spcPts val="1100"/>
              </a:spcBef>
              <a:buSzPct val="100000"/>
              <a:buAutoNum type="arabicPeriod" startAt="15"/>
              <a:defRPr sz="2800">
                <a:latin typeface="Times New Roman"/>
                <a:ea typeface="Times New Roman"/>
                <a:cs typeface="Times New Roman"/>
                <a:sym typeface="Times New Roman"/>
              </a:defRPr>
            </a:pPr>
          </a:p>
          <a:p>
            <a:pPr marL="228600" indent="-228600">
              <a:spcBef>
                <a:spcPts val="1100"/>
              </a:spcBef>
              <a:buSzPct val="100000"/>
              <a:buAutoNum type="arabicPeriod" startAt="16"/>
              <a:defRPr sz="2800">
                <a:latin typeface="Times New Roman"/>
                <a:ea typeface="Times New Roman"/>
                <a:cs typeface="Times New Roman"/>
                <a:sym typeface="Times New Roman"/>
              </a:defRPr>
            </a:pPr>
          </a:p>
          <a:p>
            <a:pPr marL="228600" indent="-228600">
              <a:spcBef>
                <a:spcPts val="1100"/>
              </a:spcBef>
              <a:buSzPct val="100000"/>
              <a:buAutoNum type="arabicPeriod" startAt="17"/>
              <a:defRPr sz="2800">
                <a:latin typeface="Times New Roman"/>
                <a:ea typeface="Times New Roman"/>
                <a:cs typeface="Times New Roman"/>
                <a:sym typeface="Times New Roman"/>
              </a:defRPr>
            </a:pPr>
          </a:p>
          <a:p>
            <a:pPr marL="228600" indent="-228600">
              <a:spcBef>
                <a:spcPts val="1100"/>
              </a:spcBef>
              <a:buSzPct val="100000"/>
              <a:buAutoNum type="arabicPeriod" startAt="18"/>
              <a:defRPr sz="2800">
                <a:latin typeface="Times New Roman"/>
                <a:ea typeface="Times New Roman"/>
                <a:cs typeface="Times New Roman"/>
                <a:sym typeface="Times New Roman"/>
              </a:defRPr>
            </a:pPr>
          </a:p>
          <a:p>
            <a:pPr marL="228600" indent="-228600">
              <a:spcBef>
                <a:spcPts val="1100"/>
              </a:spcBef>
              <a:buSzPct val="100000"/>
              <a:buAutoNum type="arabicPeriod" startAt="19"/>
              <a:defRPr sz="2800">
                <a:latin typeface="Times New Roman"/>
                <a:ea typeface="Times New Roman"/>
                <a:cs typeface="Times New Roman"/>
                <a:sym typeface="Times New Roman"/>
              </a:defRPr>
            </a:pPr>
          </a:p>
          <a:p>
            <a:pPr marL="228600" indent="-228600">
              <a:spcBef>
                <a:spcPts val="1100"/>
              </a:spcBef>
              <a:buSzPct val="100000"/>
              <a:buAutoNum type="arabicPeriod" startAt="20"/>
              <a:defRPr sz="2800">
                <a:latin typeface="Times New Roman"/>
                <a:ea typeface="Times New Roman"/>
                <a:cs typeface="Times New Roman"/>
                <a:sym typeface="Times New Roman"/>
              </a:defRPr>
            </a:pPr>
          </a:p>
        </p:txBody>
      </p:sp>
      <p:grpSp>
        <p:nvGrpSpPr>
          <p:cNvPr id="201" name="Group 13"/>
          <p:cNvGrpSpPr/>
          <p:nvPr/>
        </p:nvGrpSpPr>
        <p:grpSpPr>
          <a:xfrm>
            <a:off x="709356" y="3983373"/>
            <a:ext cx="992464" cy="992464"/>
            <a:chOff x="0" y="0"/>
            <a:chExt cx="992462" cy="992462"/>
          </a:xfrm>
        </p:grpSpPr>
        <p:sp>
          <p:nvSpPr>
            <p:cNvPr id="199" name="Freeform 14"/>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00" name="TextBox 15"/>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4</a:t>
              </a:r>
            </a:p>
          </p:txBody>
        </p:sp>
      </p:grpSp>
      <p:grpSp>
        <p:nvGrpSpPr>
          <p:cNvPr id="204" name="Group 16"/>
          <p:cNvGrpSpPr/>
          <p:nvPr/>
        </p:nvGrpSpPr>
        <p:grpSpPr>
          <a:xfrm>
            <a:off x="951508" y="3315742"/>
            <a:ext cx="508159" cy="543806"/>
            <a:chOff x="0" y="0"/>
            <a:chExt cx="508157" cy="543804"/>
          </a:xfrm>
        </p:grpSpPr>
        <p:sp>
          <p:nvSpPr>
            <p:cNvPr id="202"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3"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07" name="Group 19"/>
          <p:cNvGrpSpPr/>
          <p:nvPr/>
        </p:nvGrpSpPr>
        <p:grpSpPr>
          <a:xfrm>
            <a:off x="951508" y="1982348"/>
            <a:ext cx="508159" cy="543806"/>
            <a:chOff x="0" y="0"/>
            <a:chExt cx="508157" cy="543804"/>
          </a:xfrm>
        </p:grpSpPr>
        <p:sp>
          <p:nvSpPr>
            <p:cNvPr id="205"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6"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10" name="Group 22"/>
          <p:cNvGrpSpPr/>
          <p:nvPr/>
        </p:nvGrpSpPr>
        <p:grpSpPr>
          <a:xfrm>
            <a:off x="951508" y="5094058"/>
            <a:ext cx="508159" cy="543806"/>
            <a:chOff x="0" y="0"/>
            <a:chExt cx="508157" cy="543804"/>
          </a:xfrm>
        </p:grpSpPr>
        <p:sp>
          <p:nvSpPr>
            <p:cNvPr id="208"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9"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13" name="Group 25"/>
          <p:cNvGrpSpPr/>
          <p:nvPr/>
        </p:nvGrpSpPr>
        <p:grpSpPr>
          <a:xfrm>
            <a:off x="951508" y="2648112"/>
            <a:ext cx="508159" cy="543806"/>
            <a:chOff x="0" y="0"/>
            <a:chExt cx="508157" cy="543804"/>
          </a:xfrm>
        </p:grpSpPr>
        <p:sp>
          <p:nvSpPr>
            <p:cNvPr id="211"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2"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16" name="Group 28"/>
          <p:cNvGrpSpPr/>
          <p:nvPr/>
        </p:nvGrpSpPr>
        <p:grpSpPr>
          <a:xfrm>
            <a:off x="951508" y="6425584"/>
            <a:ext cx="508159" cy="543806"/>
            <a:chOff x="0" y="0"/>
            <a:chExt cx="508157" cy="543804"/>
          </a:xfrm>
        </p:grpSpPr>
        <p:sp>
          <p:nvSpPr>
            <p:cNvPr id="214"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5"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19" name="Group 31"/>
          <p:cNvGrpSpPr/>
          <p:nvPr/>
        </p:nvGrpSpPr>
        <p:grpSpPr>
          <a:xfrm>
            <a:off x="951508" y="5759822"/>
            <a:ext cx="508159" cy="543806"/>
            <a:chOff x="0" y="0"/>
            <a:chExt cx="508157" cy="543804"/>
          </a:xfrm>
        </p:grpSpPr>
        <p:sp>
          <p:nvSpPr>
            <p:cNvPr id="217"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8"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22" name="Group 34"/>
          <p:cNvGrpSpPr/>
          <p:nvPr/>
        </p:nvGrpSpPr>
        <p:grpSpPr>
          <a:xfrm>
            <a:off x="951508" y="7093215"/>
            <a:ext cx="508159" cy="543806"/>
            <a:chOff x="0" y="0"/>
            <a:chExt cx="508157" cy="543804"/>
          </a:xfrm>
        </p:grpSpPr>
        <p:sp>
          <p:nvSpPr>
            <p:cNvPr id="220"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1"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25" name="Group 37"/>
          <p:cNvGrpSpPr/>
          <p:nvPr/>
        </p:nvGrpSpPr>
        <p:grpSpPr>
          <a:xfrm>
            <a:off x="951508" y="7760845"/>
            <a:ext cx="508159" cy="543806"/>
            <a:chOff x="0" y="0"/>
            <a:chExt cx="508157" cy="543804"/>
          </a:xfrm>
        </p:grpSpPr>
        <p:sp>
          <p:nvSpPr>
            <p:cNvPr id="223"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4"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26" name="TextBox 45"/>
          <p:cNvSpPr txBox="1"/>
          <p:nvPr/>
        </p:nvSpPr>
        <p:spPr>
          <a:xfrm>
            <a:off x="71598" y="400480"/>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PROPOSED SYSTEM</a:t>
            </a:r>
          </a:p>
        </p:txBody>
      </p:sp>
      <p:sp>
        <p:nvSpPr>
          <p:cNvPr id="227" name="Freeform 38"/>
          <p:cNvSpPr/>
          <p:nvPr/>
        </p:nvSpPr>
        <p:spPr>
          <a:xfrm>
            <a:off x="14020800" y="-8142801"/>
            <a:ext cx="10994424" cy="10994424"/>
          </a:xfrm>
          <a:prstGeom prst="ellipse">
            <a:avLst/>
          </a:prstGeom>
          <a:ln w="514350"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31" name="Group 5"/>
          <p:cNvGrpSpPr/>
          <p:nvPr/>
        </p:nvGrpSpPr>
        <p:grpSpPr>
          <a:xfrm>
            <a:off x="709356" y="4655765"/>
            <a:ext cx="992464" cy="992464"/>
            <a:chOff x="0" y="0"/>
            <a:chExt cx="992462" cy="992462"/>
          </a:xfrm>
        </p:grpSpPr>
        <p:sp>
          <p:nvSpPr>
            <p:cNvPr id="229"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30"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5</a:t>
              </a:r>
            </a:p>
          </p:txBody>
        </p:sp>
      </p:grpSp>
      <p:grpSp>
        <p:nvGrpSpPr>
          <p:cNvPr id="234" name="Group 8"/>
          <p:cNvGrpSpPr/>
          <p:nvPr/>
        </p:nvGrpSpPr>
        <p:grpSpPr>
          <a:xfrm>
            <a:off x="951508" y="3320505"/>
            <a:ext cx="508159" cy="543806"/>
            <a:chOff x="0" y="0"/>
            <a:chExt cx="508157" cy="543804"/>
          </a:xfrm>
        </p:grpSpPr>
        <p:sp>
          <p:nvSpPr>
            <p:cNvPr id="232"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3"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37" name="Group 11"/>
          <p:cNvGrpSpPr/>
          <p:nvPr/>
        </p:nvGrpSpPr>
        <p:grpSpPr>
          <a:xfrm>
            <a:off x="951508" y="1987111"/>
            <a:ext cx="508159" cy="543806"/>
            <a:chOff x="0" y="0"/>
            <a:chExt cx="508157" cy="543804"/>
          </a:xfrm>
        </p:grpSpPr>
        <p:sp>
          <p:nvSpPr>
            <p:cNvPr id="235"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6"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40" name="Group 14"/>
          <p:cNvGrpSpPr/>
          <p:nvPr/>
        </p:nvGrpSpPr>
        <p:grpSpPr>
          <a:xfrm>
            <a:off x="951508" y="3988134"/>
            <a:ext cx="508159" cy="543806"/>
            <a:chOff x="0" y="0"/>
            <a:chExt cx="508157" cy="543804"/>
          </a:xfrm>
        </p:grpSpPr>
        <p:sp>
          <p:nvSpPr>
            <p:cNvPr id="238"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9"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43" name="Group 17"/>
          <p:cNvGrpSpPr/>
          <p:nvPr/>
        </p:nvGrpSpPr>
        <p:grpSpPr>
          <a:xfrm>
            <a:off x="951508" y="2652873"/>
            <a:ext cx="508159" cy="543806"/>
            <a:chOff x="0" y="0"/>
            <a:chExt cx="508157" cy="543804"/>
          </a:xfrm>
        </p:grpSpPr>
        <p:sp>
          <p:nvSpPr>
            <p:cNvPr id="241"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2"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46" name="Group 20"/>
          <p:cNvGrpSpPr/>
          <p:nvPr/>
        </p:nvGrpSpPr>
        <p:grpSpPr>
          <a:xfrm>
            <a:off x="951508" y="6430347"/>
            <a:ext cx="508159" cy="543806"/>
            <a:chOff x="0" y="0"/>
            <a:chExt cx="508157" cy="543804"/>
          </a:xfrm>
        </p:grpSpPr>
        <p:sp>
          <p:nvSpPr>
            <p:cNvPr id="244"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5"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49" name="Group 23"/>
          <p:cNvGrpSpPr/>
          <p:nvPr/>
        </p:nvGrpSpPr>
        <p:grpSpPr>
          <a:xfrm>
            <a:off x="951508" y="5764584"/>
            <a:ext cx="508159" cy="543806"/>
            <a:chOff x="0" y="0"/>
            <a:chExt cx="508157" cy="543804"/>
          </a:xfrm>
        </p:grpSpPr>
        <p:sp>
          <p:nvSpPr>
            <p:cNvPr id="247"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8"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52" name="Group 26"/>
          <p:cNvGrpSpPr/>
          <p:nvPr/>
        </p:nvGrpSpPr>
        <p:grpSpPr>
          <a:xfrm>
            <a:off x="951508" y="7088453"/>
            <a:ext cx="508159" cy="543806"/>
            <a:chOff x="0" y="0"/>
            <a:chExt cx="508157" cy="543804"/>
          </a:xfrm>
        </p:grpSpPr>
        <p:sp>
          <p:nvSpPr>
            <p:cNvPr id="250"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1"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55" name="Group 29"/>
          <p:cNvGrpSpPr/>
          <p:nvPr/>
        </p:nvGrpSpPr>
        <p:grpSpPr>
          <a:xfrm>
            <a:off x="951508" y="7756083"/>
            <a:ext cx="508159" cy="543806"/>
            <a:chOff x="0" y="0"/>
            <a:chExt cx="508157" cy="543804"/>
          </a:xfrm>
        </p:grpSpPr>
        <p:sp>
          <p:nvSpPr>
            <p:cNvPr id="253"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4"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56" name="Freeform 38"/>
          <p:cNvSpPr/>
          <p:nvPr/>
        </p:nvSpPr>
        <p:spPr>
          <a:xfrm>
            <a:off x="11762088" y="-9632634"/>
            <a:ext cx="10994425" cy="10994425"/>
          </a:xfrm>
          <a:prstGeom prst="ellipse">
            <a:avLst/>
          </a:prstGeom>
          <a:ln w="514350" cap="sq">
            <a:solidFill>
              <a:srgbClr val="FD6220">
                <a:alpha val="11765"/>
              </a:srgbClr>
            </a:solidFill>
            <a:miter/>
          </a:ln>
        </p:spPr>
        <p:txBody>
          <a:bodyPr lIns="45719" rIns="45719"/>
          <a:lstStyle/>
          <a:p>
            <a:pPr/>
          </a:p>
        </p:txBody>
      </p:sp>
      <p:sp>
        <p:nvSpPr>
          <p:cNvPr id="257" name="TextBox 41"/>
          <p:cNvSpPr txBox="1"/>
          <p:nvPr/>
        </p:nvSpPr>
        <p:spPr>
          <a:xfrm>
            <a:off x="45719" y="486638"/>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PROPOSED SYSTEM ARCHITECTURE</a:t>
            </a:r>
          </a:p>
        </p:txBody>
      </p:sp>
      <p:pic>
        <p:nvPicPr>
          <p:cNvPr id="258" name="Screenshot 2026-05-05 at 11.48.09 PM.png" descr="Screenshot 2026-05-05 at 11.48.09 PM.png"/>
          <p:cNvPicPr>
            <a:picLocks noChangeAspect="1"/>
          </p:cNvPicPr>
          <p:nvPr/>
        </p:nvPicPr>
        <p:blipFill>
          <a:blip r:embed="rId2">
            <a:extLst/>
          </a:blip>
          <a:stretch>
            <a:fillRect/>
          </a:stretch>
        </p:blipFill>
        <p:spPr>
          <a:xfrm>
            <a:off x="3377783" y="1624172"/>
            <a:ext cx="11532434" cy="765992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62" name="Group 14"/>
          <p:cNvGrpSpPr/>
          <p:nvPr/>
        </p:nvGrpSpPr>
        <p:grpSpPr>
          <a:xfrm>
            <a:off x="735587" y="5318633"/>
            <a:ext cx="992464" cy="992464"/>
            <a:chOff x="0" y="0"/>
            <a:chExt cx="992462" cy="992462"/>
          </a:xfrm>
        </p:grpSpPr>
        <p:sp>
          <p:nvSpPr>
            <p:cNvPr id="260" name="Freeform 15"/>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61" name="TextBox 16"/>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6</a:t>
              </a:r>
            </a:p>
          </p:txBody>
        </p:sp>
      </p:grpSp>
      <p:grpSp>
        <p:nvGrpSpPr>
          <p:cNvPr id="265" name="Group 17"/>
          <p:cNvGrpSpPr/>
          <p:nvPr/>
        </p:nvGrpSpPr>
        <p:grpSpPr>
          <a:xfrm>
            <a:off x="977740" y="3315742"/>
            <a:ext cx="508159" cy="543806"/>
            <a:chOff x="0" y="0"/>
            <a:chExt cx="508157" cy="543804"/>
          </a:xfrm>
        </p:grpSpPr>
        <p:sp>
          <p:nvSpPr>
            <p:cNvPr id="263"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4"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68" name="Group 20"/>
          <p:cNvGrpSpPr/>
          <p:nvPr/>
        </p:nvGrpSpPr>
        <p:grpSpPr>
          <a:xfrm>
            <a:off x="977740" y="1982348"/>
            <a:ext cx="508159" cy="543806"/>
            <a:chOff x="0" y="0"/>
            <a:chExt cx="508157" cy="543804"/>
          </a:xfrm>
        </p:grpSpPr>
        <p:sp>
          <p:nvSpPr>
            <p:cNvPr id="266"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7"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71" name="Group 23"/>
          <p:cNvGrpSpPr/>
          <p:nvPr/>
        </p:nvGrpSpPr>
        <p:grpSpPr>
          <a:xfrm>
            <a:off x="977740" y="3983373"/>
            <a:ext cx="508159" cy="543806"/>
            <a:chOff x="0" y="0"/>
            <a:chExt cx="508157" cy="543804"/>
          </a:xfrm>
        </p:grpSpPr>
        <p:sp>
          <p:nvSpPr>
            <p:cNvPr id="269"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0"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74" name="Group 26"/>
          <p:cNvGrpSpPr/>
          <p:nvPr/>
        </p:nvGrpSpPr>
        <p:grpSpPr>
          <a:xfrm>
            <a:off x="977740" y="2648112"/>
            <a:ext cx="508159" cy="543806"/>
            <a:chOff x="0" y="0"/>
            <a:chExt cx="508157" cy="543804"/>
          </a:xfrm>
        </p:grpSpPr>
        <p:sp>
          <p:nvSpPr>
            <p:cNvPr id="272"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3"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77" name="Group 29"/>
          <p:cNvGrpSpPr/>
          <p:nvPr/>
        </p:nvGrpSpPr>
        <p:grpSpPr>
          <a:xfrm>
            <a:off x="977740" y="6425584"/>
            <a:ext cx="508159" cy="543806"/>
            <a:chOff x="0" y="0"/>
            <a:chExt cx="508157" cy="543804"/>
          </a:xfrm>
        </p:grpSpPr>
        <p:sp>
          <p:nvSpPr>
            <p:cNvPr id="275"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6"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80" name="Group 32"/>
          <p:cNvGrpSpPr/>
          <p:nvPr/>
        </p:nvGrpSpPr>
        <p:grpSpPr>
          <a:xfrm>
            <a:off x="977740" y="4651002"/>
            <a:ext cx="508159" cy="543806"/>
            <a:chOff x="0" y="0"/>
            <a:chExt cx="508157" cy="543804"/>
          </a:xfrm>
        </p:grpSpPr>
        <p:sp>
          <p:nvSpPr>
            <p:cNvPr id="278" name="Freeform 3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9" name="TextBox 3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83" name="Group 37"/>
          <p:cNvGrpSpPr/>
          <p:nvPr/>
        </p:nvGrpSpPr>
        <p:grpSpPr>
          <a:xfrm>
            <a:off x="977740" y="7093215"/>
            <a:ext cx="508159" cy="543806"/>
            <a:chOff x="0" y="0"/>
            <a:chExt cx="508157" cy="543804"/>
          </a:xfrm>
        </p:grpSpPr>
        <p:sp>
          <p:nvSpPr>
            <p:cNvPr id="281"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2"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86" name="Group 40"/>
          <p:cNvGrpSpPr/>
          <p:nvPr/>
        </p:nvGrpSpPr>
        <p:grpSpPr>
          <a:xfrm>
            <a:off x="977740" y="7760845"/>
            <a:ext cx="508159" cy="543806"/>
            <a:chOff x="0" y="0"/>
            <a:chExt cx="508157" cy="543804"/>
          </a:xfrm>
        </p:grpSpPr>
        <p:sp>
          <p:nvSpPr>
            <p:cNvPr id="284"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5"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87" name="TextBox 46"/>
          <p:cNvSpPr txBox="1"/>
          <p:nvPr/>
        </p:nvSpPr>
        <p:spPr>
          <a:xfrm>
            <a:off x="236220" y="315937"/>
            <a:ext cx="157200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WORKFLOW</a:t>
            </a:r>
          </a:p>
        </p:txBody>
      </p:sp>
      <p:sp>
        <p:nvSpPr>
          <p:cNvPr id="288" name="Freeform 38"/>
          <p:cNvSpPr/>
          <p:nvPr/>
        </p:nvSpPr>
        <p:spPr>
          <a:xfrm>
            <a:off x="14020800" y="-8142801"/>
            <a:ext cx="10994424" cy="10994424"/>
          </a:xfrm>
          <a:prstGeom prst="ellipse">
            <a:avLst/>
          </a:prstGeom>
          <a:ln w="514350" cap="sq">
            <a:solidFill>
              <a:srgbClr val="FD6220">
                <a:alpha val="11765"/>
              </a:srgbClr>
            </a:solidFill>
            <a:miter/>
          </a:ln>
        </p:spPr>
        <p:txBody>
          <a:bodyPr lIns="45719" rIns="45719"/>
          <a:lstStyle/>
          <a:p>
            <a:pPr/>
          </a:p>
        </p:txBody>
      </p:sp>
      <p:pic>
        <p:nvPicPr>
          <p:cNvPr id="289" name="Screenshot 2026-05-02 at 2.55.51 PM.png" descr="Screenshot 2026-05-02 at 2.55.51 PM.png"/>
          <p:cNvPicPr>
            <a:picLocks noChangeAspect="1"/>
          </p:cNvPicPr>
          <p:nvPr/>
        </p:nvPicPr>
        <p:blipFill>
          <a:blip r:embed="rId2">
            <a:extLst/>
          </a:blip>
          <a:stretch>
            <a:fillRect/>
          </a:stretch>
        </p:blipFill>
        <p:spPr>
          <a:xfrm>
            <a:off x="6421349" y="1585517"/>
            <a:ext cx="4607188" cy="7705589"/>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93" name="Group 19"/>
          <p:cNvGrpSpPr/>
          <p:nvPr/>
        </p:nvGrpSpPr>
        <p:grpSpPr>
          <a:xfrm>
            <a:off x="735587" y="5976927"/>
            <a:ext cx="992464" cy="992464"/>
            <a:chOff x="0" y="0"/>
            <a:chExt cx="992462" cy="992462"/>
          </a:xfrm>
        </p:grpSpPr>
        <p:sp>
          <p:nvSpPr>
            <p:cNvPr id="291" name="Freeform 2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92" name="TextBox 2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7</a:t>
              </a:r>
            </a:p>
          </p:txBody>
        </p:sp>
      </p:grpSp>
      <p:grpSp>
        <p:nvGrpSpPr>
          <p:cNvPr id="296" name="Group 22"/>
          <p:cNvGrpSpPr/>
          <p:nvPr/>
        </p:nvGrpSpPr>
        <p:grpSpPr>
          <a:xfrm>
            <a:off x="977740" y="3315742"/>
            <a:ext cx="508159" cy="543806"/>
            <a:chOff x="0" y="0"/>
            <a:chExt cx="508157" cy="543804"/>
          </a:xfrm>
        </p:grpSpPr>
        <p:sp>
          <p:nvSpPr>
            <p:cNvPr id="294"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95"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99" name="Group 25"/>
          <p:cNvGrpSpPr/>
          <p:nvPr/>
        </p:nvGrpSpPr>
        <p:grpSpPr>
          <a:xfrm>
            <a:off x="977740" y="1982348"/>
            <a:ext cx="508159" cy="543806"/>
            <a:chOff x="0" y="0"/>
            <a:chExt cx="508157" cy="543804"/>
          </a:xfrm>
        </p:grpSpPr>
        <p:sp>
          <p:nvSpPr>
            <p:cNvPr id="297"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98"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02" name="Group 28"/>
          <p:cNvGrpSpPr/>
          <p:nvPr/>
        </p:nvGrpSpPr>
        <p:grpSpPr>
          <a:xfrm>
            <a:off x="977740" y="3983373"/>
            <a:ext cx="508159" cy="543806"/>
            <a:chOff x="0" y="0"/>
            <a:chExt cx="508157" cy="543804"/>
          </a:xfrm>
        </p:grpSpPr>
        <p:sp>
          <p:nvSpPr>
            <p:cNvPr id="300"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1"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05" name="Group 31"/>
          <p:cNvGrpSpPr/>
          <p:nvPr/>
        </p:nvGrpSpPr>
        <p:grpSpPr>
          <a:xfrm>
            <a:off x="977740" y="2648112"/>
            <a:ext cx="508159" cy="543806"/>
            <a:chOff x="0" y="0"/>
            <a:chExt cx="508157" cy="543804"/>
          </a:xfrm>
        </p:grpSpPr>
        <p:sp>
          <p:nvSpPr>
            <p:cNvPr id="303"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4"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08" name="Group 34"/>
          <p:cNvGrpSpPr/>
          <p:nvPr/>
        </p:nvGrpSpPr>
        <p:grpSpPr>
          <a:xfrm>
            <a:off x="977740" y="5318633"/>
            <a:ext cx="508159" cy="543806"/>
            <a:chOff x="0" y="0"/>
            <a:chExt cx="508157" cy="543804"/>
          </a:xfrm>
        </p:grpSpPr>
        <p:sp>
          <p:nvSpPr>
            <p:cNvPr id="306"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7"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11" name="Group 37"/>
          <p:cNvGrpSpPr/>
          <p:nvPr/>
        </p:nvGrpSpPr>
        <p:grpSpPr>
          <a:xfrm>
            <a:off x="977740" y="4651002"/>
            <a:ext cx="508159" cy="543806"/>
            <a:chOff x="0" y="0"/>
            <a:chExt cx="508157" cy="543804"/>
          </a:xfrm>
        </p:grpSpPr>
        <p:sp>
          <p:nvSpPr>
            <p:cNvPr id="309"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0"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14" name="Group 40"/>
          <p:cNvGrpSpPr/>
          <p:nvPr/>
        </p:nvGrpSpPr>
        <p:grpSpPr>
          <a:xfrm>
            <a:off x="977740" y="7093215"/>
            <a:ext cx="508159" cy="543806"/>
            <a:chOff x="0" y="0"/>
            <a:chExt cx="508157" cy="543804"/>
          </a:xfrm>
        </p:grpSpPr>
        <p:sp>
          <p:nvSpPr>
            <p:cNvPr id="312"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3"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317" name="Group 43"/>
          <p:cNvGrpSpPr/>
          <p:nvPr/>
        </p:nvGrpSpPr>
        <p:grpSpPr>
          <a:xfrm>
            <a:off x="977740" y="7760845"/>
            <a:ext cx="508159" cy="543806"/>
            <a:chOff x="0" y="0"/>
            <a:chExt cx="508157" cy="543804"/>
          </a:xfrm>
        </p:grpSpPr>
        <p:sp>
          <p:nvSpPr>
            <p:cNvPr id="315" name="Freeform 4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6" name="TextBox 4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18" name="TextBox 46"/>
          <p:cNvSpPr txBox="1"/>
          <p:nvPr/>
        </p:nvSpPr>
        <p:spPr>
          <a:xfrm>
            <a:off x="198120" y="342899"/>
            <a:ext cx="166725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TECHNOLOGIES USED</a:t>
            </a:r>
          </a:p>
        </p:txBody>
      </p:sp>
      <p:sp>
        <p:nvSpPr>
          <p:cNvPr id="319" name="TextBox 47"/>
          <p:cNvSpPr txBox="1"/>
          <p:nvPr/>
        </p:nvSpPr>
        <p:spPr>
          <a:xfrm>
            <a:off x="2255519" y="1638300"/>
            <a:ext cx="14990886" cy="129161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defTabSz="457200">
              <a:buSzPct val="100000"/>
              <a:buAutoNum type="arabicPeriod" startAt="1"/>
              <a:defRPr b="1" sz="3000">
                <a:latin typeface="Times New Roman"/>
                <a:ea typeface="Times New Roman"/>
                <a:cs typeface="Times New Roman"/>
                <a:sym typeface="Times New Roman"/>
              </a:defRPr>
            </a:pPr>
            <a:r>
              <a:t>Frontend:</a:t>
            </a:r>
            <a:r>
              <a:rPr b="0"/>
              <a:t> React JS, HTML, CSS</a:t>
            </a:r>
          </a:p>
          <a:p>
            <a:pPr marL="228600" indent="-228600" defTabSz="457200">
              <a:buSzPct val="100000"/>
              <a:buAutoNum type="arabicPeriod" startAt="1"/>
              <a:defRPr b="1" sz="3000">
                <a:latin typeface="Times New Roman"/>
                <a:ea typeface="Times New Roman"/>
                <a:cs typeface="Times New Roman"/>
                <a:sym typeface="Times New Roman"/>
              </a:defRPr>
            </a:pPr>
            <a:r>
              <a:t>Backend:</a:t>
            </a:r>
            <a:r>
              <a:rPr b="0"/>
              <a:t> PHP</a:t>
            </a:r>
          </a:p>
          <a:p>
            <a:pPr marL="228600" indent="-228600" defTabSz="457200">
              <a:buSzPct val="100000"/>
              <a:buAutoNum type="arabicPeriod" startAt="1"/>
              <a:defRPr b="1" sz="3000">
                <a:latin typeface="Times New Roman"/>
                <a:ea typeface="Times New Roman"/>
                <a:cs typeface="Times New Roman"/>
                <a:sym typeface="Times New Roman"/>
              </a:defRPr>
            </a:pPr>
            <a:r>
              <a:t>Database:</a:t>
            </a:r>
            <a:r>
              <a:rPr b="0"/>
              <a:t> MySQL</a:t>
            </a:r>
            <a:endParaRPr b="0"/>
          </a:p>
          <a:p>
            <a:pPr marL="228600" indent="-228600" defTabSz="457200">
              <a:buSzPct val="100000"/>
              <a:buAutoNum type="arabicPeriod" startAt="1"/>
              <a:defRPr b="1" sz="3000">
                <a:latin typeface="Times New Roman"/>
                <a:ea typeface="Times New Roman"/>
                <a:cs typeface="Times New Roman"/>
                <a:sym typeface="Times New Roman"/>
              </a:defRPr>
            </a:pPr>
            <a:r>
              <a:t>Third-Party API:</a:t>
            </a:r>
            <a:r>
              <a:rPr b="0"/>
              <a:t>SendGrid API,FPDF,cURL</a:t>
            </a:r>
            <a:endParaRPr b="0"/>
          </a:p>
          <a:p>
            <a:pPr marL="228600" indent="-228600" defTabSz="457200">
              <a:buSzPct val="100000"/>
              <a:buAutoNum type="arabicPeriod" startAt="1"/>
              <a:defRPr b="1" sz="3000">
                <a:latin typeface="Times New Roman"/>
                <a:ea typeface="Times New Roman"/>
                <a:cs typeface="Times New Roman"/>
                <a:sym typeface="Times New Roman"/>
              </a:defRPr>
            </a:pPr>
            <a:r>
              <a:t>Tools: </a:t>
            </a:r>
            <a:r>
              <a:rPr b="0"/>
              <a:t>XAMPP, VS Code, phpMyAdmin</a:t>
            </a:r>
          </a:p>
          <a:p>
            <a:pPr marL="228600" indent="-228600" defTabSz="457200">
              <a:buSzPct val="100000"/>
              <a:buAutoNum type="arabicPeriod" startAt="1"/>
              <a:defRPr b="1" sz="3000">
                <a:latin typeface="Times New Roman"/>
                <a:ea typeface="Times New Roman"/>
                <a:cs typeface="Times New Roman"/>
                <a:sym typeface="Times New Roman"/>
              </a:defRPr>
            </a:pPr>
            <a:r>
              <a:t>Hardware/Software Requirements: </a:t>
            </a:r>
            <a:r>
              <a:rPr b="0"/>
              <a:t>A laptop with minimum 4GB RAM, web browser (Chrome/Edge),   XAMPP server installed</a:t>
            </a:r>
          </a:p>
          <a:p>
            <a:pPr marL="228600" indent="-228600">
              <a:spcBef>
                <a:spcPts val="1000"/>
              </a:spcBef>
              <a:buSzPct val="100000"/>
              <a:buAutoNum type="arabicPeriod" startAt="1"/>
              <a:defRPr sz="3000">
                <a:latin typeface="Times New Roman"/>
                <a:ea typeface="Times New Roman"/>
                <a:cs typeface="Times New Roman"/>
                <a:sym typeface="Times New Roman"/>
              </a:defRPr>
            </a:pPr>
          </a:p>
          <a:p>
            <a:pPr marL="228600" indent="-228600">
              <a:spcBef>
                <a:spcPts val="1000"/>
              </a:spcBef>
              <a:buSzPct val="100000"/>
              <a:buAutoNum type="arabicPeriod" startAt="7"/>
              <a:defRPr sz="3000">
                <a:latin typeface="Times New Roman"/>
                <a:ea typeface="Times New Roman"/>
                <a:cs typeface="Times New Roman"/>
                <a:sym typeface="Times New Roman"/>
              </a:defRPr>
            </a:pPr>
          </a:p>
          <a:p>
            <a:pPr marL="228600" indent="-228600">
              <a:spcBef>
                <a:spcPts val="1000"/>
              </a:spcBef>
              <a:buSzPct val="100000"/>
              <a:buAutoNum type="arabicPeriod" startAt="8"/>
              <a:defRPr sz="3000">
                <a:latin typeface="Times New Roman"/>
                <a:ea typeface="Times New Roman"/>
                <a:cs typeface="Times New Roman"/>
                <a:sym typeface="Times New Roman"/>
              </a:defRPr>
            </a:pPr>
          </a:p>
          <a:p>
            <a:pPr marL="228600" indent="-228600">
              <a:spcBef>
                <a:spcPts val="1000"/>
              </a:spcBef>
              <a:buSzPct val="100000"/>
              <a:buAutoNum type="arabicPeriod" startAt="9"/>
              <a:defRPr sz="3000">
                <a:latin typeface="Times New Roman"/>
                <a:ea typeface="Times New Roman"/>
                <a:cs typeface="Times New Roman"/>
                <a:sym typeface="Times New Roman"/>
              </a:defRPr>
            </a:pPr>
          </a:p>
          <a:p>
            <a:pPr marL="228600" indent="-228600">
              <a:spcBef>
                <a:spcPts val="1000"/>
              </a:spcBef>
              <a:buSzPct val="100000"/>
              <a:buAutoNum type="arabicPeriod" startAt="10"/>
              <a:defRPr sz="3000">
                <a:latin typeface="Times New Roman"/>
                <a:ea typeface="Times New Roman"/>
                <a:cs typeface="Times New Roman"/>
                <a:sym typeface="Times New Roman"/>
              </a:defRPr>
            </a:pPr>
          </a:p>
          <a:p>
            <a:pPr marL="228600" indent="-228600">
              <a:spcBef>
                <a:spcPts val="1000"/>
              </a:spcBef>
              <a:buSzPct val="100000"/>
              <a:buAutoNum type="arabicPeriod" startAt="11"/>
              <a:defRPr sz="3000">
                <a:latin typeface="Times New Roman"/>
                <a:ea typeface="Times New Roman"/>
                <a:cs typeface="Times New Roman"/>
                <a:sym typeface="Times New Roman"/>
              </a:defRPr>
            </a:pPr>
          </a:p>
          <a:p>
            <a:pPr marL="228600" indent="-228600">
              <a:spcBef>
                <a:spcPts val="1000"/>
              </a:spcBef>
              <a:buSzPct val="100000"/>
              <a:buAutoNum type="arabicPeriod" startAt="12"/>
              <a:defRPr sz="3000">
                <a:latin typeface="Times New Roman"/>
                <a:ea typeface="Times New Roman"/>
                <a:cs typeface="Times New Roman"/>
                <a:sym typeface="Times New Roman"/>
              </a:defRPr>
            </a:pPr>
          </a:p>
          <a:p>
            <a:pPr marL="228600" indent="-228600">
              <a:spcBef>
                <a:spcPts val="1000"/>
              </a:spcBef>
              <a:buSzPct val="100000"/>
              <a:buAutoNum type="arabicPeriod" startAt="13"/>
              <a:defRPr sz="3000">
                <a:latin typeface="Times New Roman"/>
                <a:ea typeface="Times New Roman"/>
                <a:cs typeface="Times New Roman"/>
                <a:sym typeface="Times New Roman"/>
              </a:defRPr>
            </a:pPr>
          </a:p>
          <a:p>
            <a:pPr marL="228600" indent="-228600">
              <a:spcBef>
                <a:spcPts val="1000"/>
              </a:spcBef>
              <a:buSzPct val="100000"/>
              <a:buAutoNum type="arabicPeriod" startAt="14"/>
              <a:defRPr sz="3000">
                <a:latin typeface="Times New Roman"/>
                <a:ea typeface="Times New Roman"/>
                <a:cs typeface="Times New Roman"/>
                <a:sym typeface="Times New Roman"/>
              </a:defRPr>
            </a:pPr>
          </a:p>
          <a:p>
            <a:pPr marL="489857" indent="-489857">
              <a:spcBef>
                <a:spcPts val="1000"/>
              </a:spcBef>
              <a:buSzPct val="100000"/>
              <a:buChar char="-"/>
              <a:defRPr sz="3000">
                <a:latin typeface="Times New Roman"/>
                <a:ea typeface="Times New Roman"/>
                <a:cs typeface="Times New Roman"/>
                <a:sym typeface="Times New Roman"/>
              </a:defRPr>
            </a:pPr>
            <a:endParaRPr sz="2800"/>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
        <p:nvSpPr>
          <p:cNvPr id="320" name="Freeform 38"/>
          <p:cNvSpPr/>
          <p:nvPr/>
        </p:nvSpPr>
        <p:spPr>
          <a:xfrm>
            <a:off x="14401800" y="-2955537"/>
            <a:ext cx="10994424" cy="10994424"/>
          </a:xfrm>
          <a:prstGeom prst="ellipse">
            <a:avLst/>
          </a:prstGeom>
          <a:ln w="514350"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24" name="Group 7"/>
          <p:cNvGrpSpPr/>
          <p:nvPr/>
        </p:nvGrpSpPr>
        <p:grpSpPr>
          <a:xfrm>
            <a:off x="735587" y="6653893"/>
            <a:ext cx="992464" cy="992464"/>
            <a:chOff x="0" y="0"/>
            <a:chExt cx="992462" cy="992462"/>
          </a:xfrm>
        </p:grpSpPr>
        <p:sp>
          <p:nvSpPr>
            <p:cNvPr id="322"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23"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8</a:t>
              </a:r>
            </a:p>
          </p:txBody>
        </p:sp>
      </p:grpSp>
      <p:grpSp>
        <p:nvGrpSpPr>
          <p:cNvPr id="327" name="Group 10"/>
          <p:cNvGrpSpPr/>
          <p:nvPr/>
        </p:nvGrpSpPr>
        <p:grpSpPr>
          <a:xfrm>
            <a:off x="977740" y="3315742"/>
            <a:ext cx="508159" cy="543806"/>
            <a:chOff x="0" y="0"/>
            <a:chExt cx="508157" cy="543804"/>
          </a:xfrm>
        </p:grpSpPr>
        <p:sp>
          <p:nvSpPr>
            <p:cNvPr id="325"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26"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30" name="Group 13"/>
          <p:cNvGrpSpPr/>
          <p:nvPr/>
        </p:nvGrpSpPr>
        <p:grpSpPr>
          <a:xfrm>
            <a:off x="977740" y="1982348"/>
            <a:ext cx="506415" cy="541940"/>
            <a:chOff x="0" y="0"/>
            <a:chExt cx="506413" cy="541938"/>
          </a:xfrm>
        </p:grpSpPr>
        <p:sp>
          <p:nvSpPr>
            <p:cNvPr id="328" name="Freeform 14"/>
            <p:cNvSpPr/>
            <p:nvPr/>
          </p:nvSpPr>
          <p:spPr>
            <a:xfrm>
              <a:off x="0" y="0"/>
              <a:ext cx="506414" cy="541939"/>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29" name="TextBox 15"/>
            <p:cNvSpPr txBox="1"/>
            <p:nvPr/>
          </p:nvSpPr>
          <p:spPr>
            <a:xfrm>
              <a:off x="47476" y="70261"/>
              <a:ext cx="411461" cy="3836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33" name="Group 16"/>
          <p:cNvGrpSpPr/>
          <p:nvPr/>
        </p:nvGrpSpPr>
        <p:grpSpPr>
          <a:xfrm>
            <a:off x="977740" y="3983373"/>
            <a:ext cx="508159" cy="543806"/>
            <a:chOff x="0" y="0"/>
            <a:chExt cx="508157" cy="543804"/>
          </a:xfrm>
        </p:grpSpPr>
        <p:sp>
          <p:nvSpPr>
            <p:cNvPr id="331"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2"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36" name="Group 19"/>
          <p:cNvGrpSpPr/>
          <p:nvPr/>
        </p:nvGrpSpPr>
        <p:grpSpPr>
          <a:xfrm>
            <a:off x="977740" y="2648112"/>
            <a:ext cx="508159" cy="543806"/>
            <a:chOff x="0" y="0"/>
            <a:chExt cx="508157" cy="543804"/>
          </a:xfrm>
        </p:grpSpPr>
        <p:sp>
          <p:nvSpPr>
            <p:cNvPr id="334"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5"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39" name="Group 22"/>
          <p:cNvGrpSpPr/>
          <p:nvPr/>
        </p:nvGrpSpPr>
        <p:grpSpPr>
          <a:xfrm>
            <a:off x="977740" y="5318633"/>
            <a:ext cx="508159" cy="543806"/>
            <a:chOff x="0" y="0"/>
            <a:chExt cx="508157" cy="543804"/>
          </a:xfrm>
        </p:grpSpPr>
        <p:sp>
          <p:nvSpPr>
            <p:cNvPr id="337"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8"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42" name="Group 25"/>
          <p:cNvGrpSpPr/>
          <p:nvPr/>
        </p:nvGrpSpPr>
        <p:grpSpPr>
          <a:xfrm>
            <a:off x="977740" y="4651002"/>
            <a:ext cx="508159" cy="543806"/>
            <a:chOff x="0" y="0"/>
            <a:chExt cx="508157" cy="543804"/>
          </a:xfrm>
        </p:grpSpPr>
        <p:sp>
          <p:nvSpPr>
            <p:cNvPr id="340"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1"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45" name="Group 28"/>
          <p:cNvGrpSpPr/>
          <p:nvPr/>
        </p:nvGrpSpPr>
        <p:grpSpPr>
          <a:xfrm>
            <a:off x="977740" y="5986264"/>
            <a:ext cx="508159" cy="543806"/>
            <a:chOff x="0" y="0"/>
            <a:chExt cx="508157" cy="543804"/>
          </a:xfrm>
        </p:grpSpPr>
        <p:sp>
          <p:nvSpPr>
            <p:cNvPr id="343"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4"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48" name="Group 31"/>
          <p:cNvGrpSpPr/>
          <p:nvPr/>
        </p:nvGrpSpPr>
        <p:grpSpPr>
          <a:xfrm>
            <a:off x="977740" y="7760845"/>
            <a:ext cx="508159" cy="543806"/>
            <a:chOff x="0" y="0"/>
            <a:chExt cx="508157" cy="543804"/>
          </a:xfrm>
        </p:grpSpPr>
        <p:sp>
          <p:nvSpPr>
            <p:cNvPr id="346"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7"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49"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350" name="TextBox 42"/>
          <p:cNvSpPr txBox="1"/>
          <p:nvPr/>
        </p:nvSpPr>
        <p:spPr>
          <a:xfrm>
            <a:off x="198120" y="342899"/>
            <a:ext cx="156057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MODULE DESCRIPTION</a:t>
            </a:r>
          </a:p>
        </p:txBody>
      </p:sp>
      <p:sp>
        <p:nvSpPr>
          <p:cNvPr id="351" name="Module 1: Authentication &amp; Access Control Module…"/>
          <p:cNvSpPr txBox="1"/>
          <p:nvPr/>
        </p:nvSpPr>
        <p:spPr>
          <a:xfrm>
            <a:off x="1700452" y="1791283"/>
            <a:ext cx="15860588" cy="733943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400"/>
              </a:spcBef>
              <a:defRPr b="1" sz="2900">
                <a:latin typeface="Times New Roman"/>
                <a:ea typeface="Times New Roman"/>
                <a:cs typeface="Times New Roman"/>
                <a:sym typeface="Times New Roman"/>
              </a:defRPr>
            </a:pPr>
            <a:r>
              <a:t>Module 1: Authentication &amp; Access Control Module</a:t>
            </a:r>
          </a:p>
          <a:p>
            <a:pPr defTabSz="457200">
              <a:spcBef>
                <a:spcPts val="1200"/>
              </a:spcBef>
              <a:defRPr sz="2900">
                <a:latin typeface="Times New Roman"/>
                <a:ea typeface="Times New Roman"/>
                <a:cs typeface="Times New Roman"/>
                <a:sym typeface="Times New Roman"/>
              </a:defRPr>
            </a:pPr>
            <a:r>
              <a:t>This module handles user authentication, secure login, and access control to ensure only authorized users can access the system.</a:t>
            </a:r>
          </a:p>
          <a:p>
            <a:pPr marL="457200" indent="-317500" defTabSz="457200">
              <a:spcBef>
                <a:spcPts val="500"/>
              </a:spcBef>
              <a:buSzPct val="100000"/>
              <a:buFont typeface="Times Roman"/>
              <a:buChar char="•"/>
              <a:defRPr sz="2900">
                <a:latin typeface="Times New Roman"/>
                <a:ea typeface="Times New Roman"/>
                <a:cs typeface="Times New Roman"/>
                <a:sym typeface="Times New Roman"/>
              </a:defRPr>
            </a:pPr>
            <a:r>
              <a:rPr b="1"/>
              <a:t>User Registration:</a:t>
            </a:r>
            <a:r>
              <a:t> Users (students, organizers, admins) can register with validated data. Passwords are securely stored using hashing (bcrypt).</a:t>
            </a:r>
          </a:p>
          <a:p>
            <a:pPr marL="457200" indent="-317500" defTabSz="457200">
              <a:spcBef>
                <a:spcPts val="500"/>
              </a:spcBef>
              <a:buSzPct val="100000"/>
              <a:buFont typeface="Times Roman"/>
              <a:buChar char="•"/>
              <a:defRPr sz="2900">
                <a:latin typeface="Times New Roman"/>
                <a:ea typeface="Times New Roman"/>
                <a:cs typeface="Times New Roman"/>
                <a:sym typeface="Times New Roman"/>
              </a:defRPr>
            </a:pPr>
            <a:r>
              <a:rPr b="1"/>
              <a:t>User Login:</a:t>
            </a:r>
            <a:r>
              <a:t> Credentials are verified with proper error handling for invalid attempts.</a:t>
            </a:r>
          </a:p>
          <a:p>
            <a:pPr marL="457200" indent="-317500" defTabSz="457200">
              <a:spcBef>
                <a:spcPts val="500"/>
              </a:spcBef>
              <a:buSzPct val="100000"/>
              <a:buFont typeface="Times Roman"/>
              <a:buChar char="•"/>
              <a:defRPr sz="2900">
                <a:latin typeface="Times New Roman"/>
                <a:ea typeface="Times New Roman"/>
                <a:cs typeface="Times New Roman"/>
                <a:sym typeface="Times New Roman"/>
              </a:defRPr>
            </a:pPr>
            <a:r>
              <a:rPr b="1"/>
              <a:t>JWT Authentication:</a:t>
            </a:r>
            <a:r>
              <a:t> A secure token is generated after login to manage user sessions.</a:t>
            </a:r>
          </a:p>
          <a:p>
            <a:pPr marL="457200" indent="-317500" defTabSz="457200">
              <a:spcBef>
                <a:spcPts val="500"/>
              </a:spcBef>
              <a:buSzPct val="100000"/>
              <a:buFont typeface="Times Roman"/>
              <a:buChar char="•"/>
              <a:defRPr sz="2900">
                <a:latin typeface="Times New Roman"/>
                <a:ea typeface="Times New Roman"/>
                <a:cs typeface="Times New Roman"/>
                <a:sym typeface="Times New Roman"/>
              </a:defRPr>
            </a:pPr>
            <a:r>
              <a:rPr b="1"/>
              <a:t>Session Management:</a:t>
            </a:r>
            <a:r>
              <a:t> Stateless session using JWT; token is verified for each request.</a:t>
            </a:r>
          </a:p>
          <a:p>
            <a:pPr marL="457200" indent="-317500" defTabSz="457200">
              <a:spcBef>
                <a:spcPts val="500"/>
              </a:spcBef>
              <a:buSzPct val="100000"/>
              <a:buFont typeface="Times Roman"/>
              <a:buChar char="•"/>
              <a:defRPr b="1" sz="2900">
                <a:latin typeface="Times New Roman"/>
                <a:ea typeface="Times New Roman"/>
                <a:cs typeface="Times New Roman"/>
                <a:sym typeface="Times New Roman"/>
              </a:defRPr>
            </a:pPr>
            <a:r>
              <a:t>Role-Based Access:</a:t>
            </a:r>
            <a:endParaRPr b="0"/>
          </a:p>
          <a:p>
            <a:pPr lvl="1" marL="914400" indent="-317500" defTabSz="457200">
              <a:spcBef>
                <a:spcPts val="500"/>
              </a:spcBef>
              <a:buSzPct val="100000"/>
              <a:buFont typeface="Times Roman"/>
              <a:buChar char="◦"/>
              <a:defRPr sz="2900">
                <a:latin typeface="Times New Roman"/>
                <a:ea typeface="Times New Roman"/>
                <a:cs typeface="Times New Roman"/>
                <a:sym typeface="Times New Roman"/>
              </a:defRPr>
            </a:pPr>
            <a:r>
              <a:t>Students → Register for events</a:t>
            </a:r>
          </a:p>
          <a:p>
            <a:pPr lvl="1" marL="914400" indent="-317500" defTabSz="457200">
              <a:spcBef>
                <a:spcPts val="500"/>
              </a:spcBef>
              <a:buSzPct val="100000"/>
              <a:buFont typeface="Times Roman"/>
              <a:buChar char="◦"/>
              <a:defRPr sz="2900">
                <a:latin typeface="Times New Roman"/>
                <a:ea typeface="Times New Roman"/>
                <a:cs typeface="Times New Roman"/>
                <a:sym typeface="Times New Roman"/>
              </a:defRPr>
            </a:pPr>
            <a:r>
              <a:t>Organizers → Manage events</a:t>
            </a:r>
          </a:p>
          <a:p>
            <a:pPr lvl="1" marL="914400" indent="-317500" defTabSz="457200">
              <a:spcBef>
                <a:spcPts val="500"/>
              </a:spcBef>
              <a:buSzPct val="100000"/>
              <a:buFont typeface="Times Roman"/>
              <a:buChar char="◦"/>
              <a:defRPr sz="2900">
                <a:latin typeface="Times New Roman"/>
                <a:ea typeface="Times New Roman"/>
                <a:cs typeface="Times New Roman"/>
                <a:sym typeface="Times New Roman"/>
              </a:defRPr>
            </a:pPr>
            <a:r>
              <a:t>Admin → Full access</a:t>
            </a:r>
          </a:p>
          <a:p>
            <a:pPr marL="457200" indent="-317500" defTabSz="457200">
              <a:spcBef>
                <a:spcPts val="500"/>
              </a:spcBef>
              <a:buSzPct val="100000"/>
              <a:buFont typeface="Times Roman"/>
              <a:buChar char="•"/>
              <a:defRPr sz="2900">
                <a:latin typeface="Times New Roman"/>
                <a:ea typeface="Times New Roman"/>
                <a:cs typeface="Times New Roman"/>
                <a:sym typeface="Times New Roman"/>
              </a:defRPr>
            </a:pPr>
            <a:r>
              <a:rPr b="1"/>
              <a:t>Security Features:</a:t>
            </a:r>
            <a:r>
              <a:t> Token expiry, logout, and data protection using encryption.</a:t>
            </a:r>
          </a:p>
          <a:p>
            <a:pPr defTabSz="457200">
              <a:spcBef>
                <a:spcPts val="500"/>
              </a:spcBef>
              <a:defRPr sz="2900">
                <a:solidFill>
                  <a:srgbClr val="808080"/>
                </a:solidFill>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Module 2: Event Management &amp; Registration Module…"/>
          <p:cNvSpPr txBox="1"/>
          <p:nvPr/>
        </p:nvSpPr>
        <p:spPr>
          <a:xfrm>
            <a:off x="1569452" y="446343"/>
            <a:ext cx="11994020" cy="643827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spcBef>
                <a:spcPts val="1400"/>
              </a:spcBef>
              <a:defRPr b="1" sz="2800">
                <a:latin typeface="Times New Roman"/>
                <a:ea typeface="Times New Roman"/>
                <a:cs typeface="Times New Roman"/>
                <a:sym typeface="Times New Roman"/>
              </a:defRPr>
            </a:pPr>
            <a:r>
              <a:t>Module 2: Event Management &amp; Registration Module</a:t>
            </a:r>
          </a:p>
          <a:p>
            <a:pPr defTabSz="457200">
              <a:spcBef>
                <a:spcPts val="1200"/>
              </a:spcBef>
              <a:defRPr sz="2800">
                <a:latin typeface="Times New Roman"/>
                <a:ea typeface="Times New Roman"/>
                <a:cs typeface="Times New Roman"/>
                <a:sym typeface="Times New Roman"/>
              </a:defRPr>
            </a:pPr>
            <a:r>
              <a:t>This module manages event creation, updates, and student participation.</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Event Creation &amp; Update:</a:t>
            </a:r>
            <a:r>
              <a:t> Organizers/admins can add or modify event details.</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Event Deletion:</a:t>
            </a:r>
            <a:r>
              <a:t> Remove cancelled or unnecessary events.</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Event Viewing:</a:t>
            </a:r>
            <a:r>
              <a:t> Students can browse and view event details.</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Event Registration:</a:t>
            </a:r>
            <a:r>
              <a:t> Students can register and receive confirmation.</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Categorization:</a:t>
            </a:r>
            <a:r>
              <a:t> Events are grouped (technical, cultural, etc.) for easy access.</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Participant Management:</a:t>
            </a:r>
            <a:r>
              <a:t> Organizers can view registered users.</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Notifications:</a:t>
            </a:r>
            <a:r>
              <a:t> Users receive updates about events.</a:t>
            </a:r>
          </a:p>
          <a:p>
            <a:pPr marL="457200" indent="-317500" defTabSz="457200">
              <a:spcBef>
                <a:spcPts val="1000"/>
              </a:spcBef>
              <a:buSzPct val="100000"/>
              <a:buFont typeface="Times Roman"/>
              <a:buChar char="•"/>
              <a:defRPr sz="2800">
                <a:latin typeface="Times New Roman"/>
                <a:ea typeface="Times New Roman"/>
                <a:cs typeface="Times New Roman"/>
                <a:sym typeface="Times New Roman"/>
              </a:defRPr>
            </a:pPr>
            <a:r>
              <a:rPr b="1"/>
              <a:t>Data Storage:</a:t>
            </a:r>
            <a:r>
              <a:t> All data is stored efficiently in the database.</a:t>
            </a:r>
          </a:p>
          <a:p>
            <a:pPr defTabSz="457200">
              <a:spcBef>
                <a:spcPts val="1000"/>
              </a:spcBef>
              <a:defRPr sz="2800">
                <a:solidFill>
                  <a:srgbClr val="808080"/>
                </a:solidFill>
                <a:latin typeface="Times New Roman"/>
                <a:ea typeface="Times New Roman"/>
                <a:cs typeface="Times New Roman"/>
                <a:sym typeface="Times New Roman"/>
              </a:defRPr>
            </a:pPr>
          </a:p>
        </p:txBody>
      </p:sp>
      <p:sp>
        <p:nvSpPr>
          <p:cNvPr id="354" name="Module 3: Attendance &amp; Certification Module…"/>
          <p:cNvSpPr txBox="1"/>
          <p:nvPr/>
        </p:nvSpPr>
        <p:spPr>
          <a:xfrm>
            <a:off x="1608227" y="6451062"/>
            <a:ext cx="8624824" cy="316167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spcBef>
                <a:spcPts val="1400"/>
              </a:spcBef>
              <a:defRPr b="1" sz="2800">
                <a:latin typeface="Times New Roman"/>
                <a:ea typeface="Times New Roman"/>
                <a:cs typeface="Times New Roman"/>
                <a:sym typeface="Times New Roman"/>
              </a:defRPr>
            </a:pPr>
            <a:r>
              <a:t> Module 3: Attendance &amp; Certification Module</a:t>
            </a:r>
          </a:p>
          <a:p>
            <a:pPr defTabSz="457200">
              <a:spcBef>
                <a:spcPts val="1200"/>
              </a:spcBef>
              <a:defRPr sz="2800">
                <a:latin typeface="Times New Roman"/>
                <a:ea typeface="Times New Roman"/>
                <a:cs typeface="Times New Roman"/>
                <a:sym typeface="Times New Roman"/>
              </a:defRPr>
            </a:pPr>
            <a:r>
              <a:t>This module manages attendance and certificate generation.</a:t>
            </a:r>
          </a:p>
          <a:p>
            <a:pPr marL="457200" indent="-317500" defTabSz="457200">
              <a:spcBef>
                <a:spcPts val="800"/>
              </a:spcBef>
              <a:buSzPct val="100000"/>
              <a:buFont typeface="Times Roman"/>
              <a:buChar char="•"/>
              <a:defRPr sz="2800">
                <a:latin typeface="Times New Roman"/>
                <a:ea typeface="Times New Roman"/>
                <a:cs typeface="Times New Roman"/>
                <a:sym typeface="Times New Roman"/>
              </a:defRPr>
            </a:pPr>
            <a:r>
              <a:t>Attendance is marked by organizers (manual/digital).</a:t>
            </a:r>
          </a:p>
          <a:p>
            <a:pPr marL="457200" indent="-317500" defTabSz="457200">
              <a:spcBef>
                <a:spcPts val="800"/>
              </a:spcBef>
              <a:buSzPct val="100000"/>
              <a:buFont typeface="Times Roman"/>
              <a:buChar char="•"/>
              <a:defRPr sz="2800">
                <a:latin typeface="Times New Roman"/>
                <a:ea typeface="Times New Roman"/>
                <a:cs typeface="Times New Roman"/>
                <a:sym typeface="Times New Roman"/>
              </a:defRPr>
            </a:pPr>
            <a:r>
              <a:t>Verified participants receive certificates automatically.</a:t>
            </a:r>
          </a:p>
          <a:p>
            <a:pPr marL="457200" indent="-317500" defTabSz="457200">
              <a:spcBef>
                <a:spcPts val="800"/>
              </a:spcBef>
              <a:buSzPct val="100000"/>
              <a:buFont typeface="Times Roman"/>
              <a:buChar char="•"/>
              <a:defRPr sz="2800">
                <a:latin typeface="Times New Roman"/>
                <a:ea typeface="Times New Roman"/>
                <a:cs typeface="Times New Roman"/>
                <a:sym typeface="Times New Roman"/>
              </a:defRPr>
            </a:pPr>
            <a:r>
              <a:t>Certificates are generated in PDF format using FPDF.</a:t>
            </a:r>
          </a:p>
          <a:p>
            <a:pPr marL="457200" indent="-317500" defTabSz="457200">
              <a:spcBef>
                <a:spcPts val="800"/>
              </a:spcBef>
              <a:buSzPct val="100000"/>
              <a:buFont typeface="Times Roman"/>
              <a:buChar char="•"/>
              <a:defRPr sz="2800">
                <a:latin typeface="Times New Roman"/>
                <a:ea typeface="Times New Roman"/>
                <a:cs typeface="Times New Roman"/>
                <a:sym typeface="Times New Roman"/>
              </a:defRPr>
            </a:pPr>
            <a:r>
              <a:t>Certificates are sent via email notifications (SendGrid).</a:t>
            </a:r>
          </a:p>
        </p:txBody>
      </p:sp>
      <p:sp>
        <p:nvSpPr>
          <p:cNvPr id="355"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59" name="Group 7"/>
          <p:cNvGrpSpPr/>
          <p:nvPr/>
        </p:nvGrpSpPr>
        <p:grpSpPr>
          <a:xfrm>
            <a:off x="735587" y="6653893"/>
            <a:ext cx="992464" cy="992464"/>
            <a:chOff x="0" y="0"/>
            <a:chExt cx="992462" cy="992462"/>
          </a:xfrm>
        </p:grpSpPr>
        <p:sp>
          <p:nvSpPr>
            <p:cNvPr id="35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58"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t>
              </a:r>
            </a:p>
          </p:txBody>
        </p:sp>
      </p:grpSp>
      <p:grpSp>
        <p:nvGrpSpPr>
          <p:cNvPr id="362" name="Group 10"/>
          <p:cNvGrpSpPr/>
          <p:nvPr/>
        </p:nvGrpSpPr>
        <p:grpSpPr>
          <a:xfrm>
            <a:off x="977740" y="3315742"/>
            <a:ext cx="508159" cy="543806"/>
            <a:chOff x="0" y="0"/>
            <a:chExt cx="508157" cy="543804"/>
          </a:xfrm>
        </p:grpSpPr>
        <p:sp>
          <p:nvSpPr>
            <p:cNvPr id="36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65" name="Group 13"/>
          <p:cNvGrpSpPr/>
          <p:nvPr/>
        </p:nvGrpSpPr>
        <p:grpSpPr>
          <a:xfrm>
            <a:off x="977740" y="1982348"/>
            <a:ext cx="508159" cy="543806"/>
            <a:chOff x="0" y="0"/>
            <a:chExt cx="508157" cy="543804"/>
          </a:xfrm>
        </p:grpSpPr>
        <p:sp>
          <p:nvSpPr>
            <p:cNvPr id="36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68" name="Group 16"/>
          <p:cNvGrpSpPr/>
          <p:nvPr/>
        </p:nvGrpSpPr>
        <p:grpSpPr>
          <a:xfrm>
            <a:off x="977740" y="3983373"/>
            <a:ext cx="508159" cy="543806"/>
            <a:chOff x="0" y="0"/>
            <a:chExt cx="508157" cy="543804"/>
          </a:xfrm>
        </p:grpSpPr>
        <p:sp>
          <p:nvSpPr>
            <p:cNvPr id="36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71" name="Group 19"/>
          <p:cNvGrpSpPr/>
          <p:nvPr/>
        </p:nvGrpSpPr>
        <p:grpSpPr>
          <a:xfrm>
            <a:off x="977740" y="2648112"/>
            <a:ext cx="508159" cy="543806"/>
            <a:chOff x="0" y="0"/>
            <a:chExt cx="508157" cy="543804"/>
          </a:xfrm>
        </p:grpSpPr>
        <p:sp>
          <p:nvSpPr>
            <p:cNvPr id="36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74" name="Group 22"/>
          <p:cNvGrpSpPr/>
          <p:nvPr/>
        </p:nvGrpSpPr>
        <p:grpSpPr>
          <a:xfrm>
            <a:off x="977740" y="5318633"/>
            <a:ext cx="508159" cy="543806"/>
            <a:chOff x="0" y="0"/>
            <a:chExt cx="508157" cy="543804"/>
          </a:xfrm>
        </p:grpSpPr>
        <p:sp>
          <p:nvSpPr>
            <p:cNvPr id="37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77" name="Group 25"/>
          <p:cNvGrpSpPr/>
          <p:nvPr/>
        </p:nvGrpSpPr>
        <p:grpSpPr>
          <a:xfrm>
            <a:off x="977740" y="4651002"/>
            <a:ext cx="508159" cy="543806"/>
            <a:chOff x="0" y="0"/>
            <a:chExt cx="508157" cy="543804"/>
          </a:xfrm>
        </p:grpSpPr>
        <p:sp>
          <p:nvSpPr>
            <p:cNvPr id="37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80" name="Group 28"/>
          <p:cNvGrpSpPr/>
          <p:nvPr/>
        </p:nvGrpSpPr>
        <p:grpSpPr>
          <a:xfrm>
            <a:off x="977740" y="5986264"/>
            <a:ext cx="508159" cy="543806"/>
            <a:chOff x="0" y="0"/>
            <a:chExt cx="508157" cy="543804"/>
          </a:xfrm>
        </p:grpSpPr>
        <p:sp>
          <p:nvSpPr>
            <p:cNvPr id="378"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9"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83" name="Group 31"/>
          <p:cNvGrpSpPr/>
          <p:nvPr/>
        </p:nvGrpSpPr>
        <p:grpSpPr>
          <a:xfrm>
            <a:off x="977740" y="7760845"/>
            <a:ext cx="508159" cy="543806"/>
            <a:chOff x="0" y="0"/>
            <a:chExt cx="508157" cy="543804"/>
          </a:xfrm>
        </p:grpSpPr>
        <p:sp>
          <p:nvSpPr>
            <p:cNvPr id="381"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82"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84"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385" name="TextBox 42"/>
          <p:cNvSpPr txBox="1"/>
          <p:nvPr/>
        </p:nvSpPr>
        <p:spPr>
          <a:xfrm>
            <a:off x="198120" y="342899"/>
            <a:ext cx="15896105"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386" name="Screenshot 2026-04-22 at 1.14.39 AM.png" descr="Screenshot 2026-04-22 at 1.14.39 AM.png"/>
          <p:cNvPicPr>
            <a:picLocks noChangeAspect="1"/>
          </p:cNvPicPr>
          <p:nvPr/>
        </p:nvPicPr>
        <p:blipFill>
          <a:blip r:embed="rId2">
            <a:extLst/>
          </a:blip>
          <a:stretch>
            <a:fillRect/>
          </a:stretch>
        </p:blipFill>
        <p:spPr>
          <a:xfrm>
            <a:off x="3554741" y="1444279"/>
            <a:ext cx="11837503" cy="7398441"/>
          </a:xfrm>
          <a:prstGeom prst="rect">
            <a:avLst/>
          </a:prstGeom>
          <a:ln w="12700">
            <a:miter lim="400000"/>
          </a:ln>
        </p:spPr>
      </p:pic>
      <p:sp>
        <p:nvSpPr>
          <p:cNvPr id="387" name="Student Login Page…"/>
          <p:cNvSpPr txBox="1"/>
          <p:nvPr/>
        </p:nvSpPr>
        <p:spPr>
          <a:xfrm>
            <a:off x="2656591" y="8949013"/>
            <a:ext cx="14133207" cy="16154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defTabSz="457200">
              <a:spcBef>
                <a:spcPts val="1200"/>
              </a:spcBef>
              <a:defRPr sz="2266">
                <a:latin typeface="Times Roman"/>
                <a:ea typeface="Times Roman"/>
                <a:cs typeface="Times Roman"/>
                <a:sym typeface="Times Roman"/>
              </a:defRPr>
            </a:pPr>
            <a:r>
              <a:t>                                                           </a:t>
            </a:r>
            <a:r>
              <a:rPr b="1"/>
              <a:t>               Student Login Page</a:t>
            </a:r>
          </a:p>
          <a:p>
            <a:pPr defTabSz="457200">
              <a:spcBef>
                <a:spcPts val="1200"/>
              </a:spcBef>
              <a:defRPr sz="2266">
                <a:latin typeface="Times Roman"/>
                <a:ea typeface="Times Roman"/>
                <a:cs typeface="Times Roman"/>
                <a:sym typeface="Times Roman"/>
              </a:defRPr>
            </a:pPr>
            <a:r>
              <a:t>The figure Shows the login page of the Nexora system, where users enter their credentials to securely access the platform.</a:t>
            </a:r>
            <a:endParaRPr sz="1200"/>
          </a:p>
          <a:p>
            <a:pPr defTabSz="457200">
              <a:spcBef>
                <a:spcPts val="1200"/>
              </a:spcBef>
              <a:defRPr sz="2266">
                <a:latin typeface="Times Roman"/>
                <a:ea typeface="Times Roman"/>
                <a:cs typeface="Times Roman"/>
                <a:sym typeface="Times Roman"/>
              </a:defRPr>
            </a:pPr>
            <a:endParaRPr sz="1200"/>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91" name="Group 7"/>
          <p:cNvGrpSpPr/>
          <p:nvPr/>
        </p:nvGrpSpPr>
        <p:grpSpPr>
          <a:xfrm>
            <a:off x="735587" y="6653893"/>
            <a:ext cx="992464" cy="992464"/>
            <a:chOff x="0" y="0"/>
            <a:chExt cx="992462" cy="992462"/>
          </a:xfrm>
        </p:grpSpPr>
        <p:sp>
          <p:nvSpPr>
            <p:cNvPr id="389"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90"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a:t>
              </a:r>
            </a:p>
          </p:txBody>
        </p:sp>
      </p:grpSp>
      <p:grpSp>
        <p:nvGrpSpPr>
          <p:cNvPr id="394" name="Group 10"/>
          <p:cNvGrpSpPr/>
          <p:nvPr/>
        </p:nvGrpSpPr>
        <p:grpSpPr>
          <a:xfrm>
            <a:off x="977740" y="3315742"/>
            <a:ext cx="508159" cy="543806"/>
            <a:chOff x="0" y="0"/>
            <a:chExt cx="508157" cy="543804"/>
          </a:xfrm>
        </p:grpSpPr>
        <p:sp>
          <p:nvSpPr>
            <p:cNvPr id="392"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3"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97" name="Group 13"/>
          <p:cNvGrpSpPr/>
          <p:nvPr/>
        </p:nvGrpSpPr>
        <p:grpSpPr>
          <a:xfrm>
            <a:off x="977740" y="1982348"/>
            <a:ext cx="508159" cy="543806"/>
            <a:chOff x="0" y="0"/>
            <a:chExt cx="508157" cy="543804"/>
          </a:xfrm>
        </p:grpSpPr>
        <p:sp>
          <p:nvSpPr>
            <p:cNvPr id="395"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6"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00" name="Group 16"/>
          <p:cNvGrpSpPr/>
          <p:nvPr/>
        </p:nvGrpSpPr>
        <p:grpSpPr>
          <a:xfrm>
            <a:off x="977740" y="3983373"/>
            <a:ext cx="508159" cy="543806"/>
            <a:chOff x="0" y="0"/>
            <a:chExt cx="508157" cy="543804"/>
          </a:xfrm>
        </p:grpSpPr>
        <p:sp>
          <p:nvSpPr>
            <p:cNvPr id="398"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9"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03" name="Group 19"/>
          <p:cNvGrpSpPr/>
          <p:nvPr/>
        </p:nvGrpSpPr>
        <p:grpSpPr>
          <a:xfrm>
            <a:off x="977740" y="2648112"/>
            <a:ext cx="508159" cy="543806"/>
            <a:chOff x="0" y="0"/>
            <a:chExt cx="508157" cy="543804"/>
          </a:xfrm>
        </p:grpSpPr>
        <p:sp>
          <p:nvSpPr>
            <p:cNvPr id="401"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2"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06" name="Group 22"/>
          <p:cNvGrpSpPr/>
          <p:nvPr/>
        </p:nvGrpSpPr>
        <p:grpSpPr>
          <a:xfrm>
            <a:off x="977740" y="5318633"/>
            <a:ext cx="508159" cy="543806"/>
            <a:chOff x="0" y="0"/>
            <a:chExt cx="508157" cy="543804"/>
          </a:xfrm>
        </p:grpSpPr>
        <p:sp>
          <p:nvSpPr>
            <p:cNvPr id="404"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5"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09" name="Group 25"/>
          <p:cNvGrpSpPr/>
          <p:nvPr/>
        </p:nvGrpSpPr>
        <p:grpSpPr>
          <a:xfrm>
            <a:off x="977740" y="4651002"/>
            <a:ext cx="508159" cy="543806"/>
            <a:chOff x="0" y="0"/>
            <a:chExt cx="508157" cy="543804"/>
          </a:xfrm>
        </p:grpSpPr>
        <p:sp>
          <p:nvSpPr>
            <p:cNvPr id="407"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8"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12" name="Group 28"/>
          <p:cNvGrpSpPr/>
          <p:nvPr/>
        </p:nvGrpSpPr>
        <p:grpSpPr>
          <a:xfrm>
            <a:off x="977740" y="5986264"/>
            <a:ext cx="508159" cy="543806"/>
            <a:chOff x="0" y="0"/>
            <a:chExt cx="508157" cy="543804"/>
          </a:xfrm>
        </p:grpSpPr>
        <p:sp>
          <p:nvSpPr>
            <p:cNvPr id="410"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11"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15" name="Group 31"/>
          <p:cNvGrpSpPr/>
          <p:nvPr/>
        </p:nvGrpSpPr>
        <p:grpSpPr>
          <a:xfrm>
            <a:off x="977740" y="7760845"/>
            <a:ext cx="508159" cy="543806"/>
            <a:chOff x="0" y="0"/>
            <a:chExt cx="508157" cy="543804"/>
          </a:xfrm>
        </p:grpSpPr>
        <p:sp>
          <p:nvSpPr>
            <p:cNvPr id="413"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14"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16"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417" name="TextBox 42"/>
          <p:cNvSpPr txBox="1"/>
          <p:nvPr/>
        </p:nvSpPr>
        <p:spPr>
          <a:xfrm>
            <a:off x="198120" y="342899"/>
            <a:ext cx="162153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18" name="Screenshot 2026-04-22 at 1.15.07 AM.png" descr="Screenshot 2026-04-22 at 1.15.07 AM.png"/>
          <p:cNvPicPr>
            <a:picLocks noChangeAspect="1"/>
          </p:cNvPicPr>
          <p:nvPr/>
        </p:nvPicPr>
        <p:blipFill>
          <a:blip r:embed="rId2">
            <a:extLst/>
          </a:blip>
          <a:stretch>
            <a:fillRect/>
          </a:stretch>
        </p:blipFill>
        <p:spPr>
          <a:xfrm>
            <a:off x="4197797" y="1798791"/>
            <a:ext cx="11263493" cy="7039684"/>
          </a:xfrm>
          <a:prstGeom prst="rect">
            <a:avLst/>
          </a:prstGeom>
          <a:ln w="12700">
            <a:miter lim="400000"/>
          </a:ln>
        </p:spPr>
      </p:pic>
      <p:sp>
        <p:nvSpPr>
          <p:cNvPr id="419" name="Home Page…"/>
          <p:cNvSpPr txBox="1"/>
          <p:nvPr/>
        </p:nvSpPr>
        <p:spPr>
          <a:xfrm>
            <a:off x="4772698" y="8821081"/>
            <a:ext cx="10794756" cy="197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2266">
                <a:latin typeface="Times Roman"/>
                <a:ea typeface="Times Roman"/>
                <a:cs typeface="Times Roman"/>
                <a:sym typeface="Times Roman"/>
              </a:defRPr>
            </a:pPr>
            <a:r>
              <a:t>                                                      Home Page</a:t>
            </a:r>
          </a:p>
          <a:p>
            <a:pPr defTabSz="457200">
              <a:spcBef>
                <a:spcPts val="1200"/>
              </a:spcBef>
              <a:defRPr sz="2266">
                <a:latin typeface="Times Roman"/>
                <a:ea typeface="Times Roman"/>
                <a:cs typeface="Times Roman"/>
                <a:sym typeface="Times Roman"/>
              </a:defRPr>
            </a:pPr>
            <a:r>
              <a:t>The figure Shows the student dashboard of the Nexora system,where users can view available events, register for them, and track their participation details.</a:t>
            </a:r>
            <a:endParaRPr sz="1200"/>
          </a:p>
          <a:p>
            <a:pPr defTabSz="457200">
              <a:spcBef>
                <a:spcPts val="1200"/>
              </a:spcBef>
              <a:defRPr sz="2266">
                <a:latin typeface="Times Roman"/>
                <a:ea typeface="Times Roman"/>
                <a:cs typeface="Times Roman"/>
                <a:sym typeface="Times Roman"/>
              </a:defRPr>
            </a:pPr>
            <a:endParaRPr sz="1200"/>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23" name="Group 7"/>
          <p:cNvGrpSpPr/>
          <p:nvPr/>
        </p:nvGrpSpPr>
        <p:grpSpPr>
          <a:xfrm>
            <a:off x="735587" y="6653893"/>
            <a:ext cx="992464" cy="992464"/>
            <a:chOff x="0" y="0"/>
            <a:chExt cx="992462" cy="992462"/>
          </a:xfrm>
        </p:grpSpPr>
        <p:sp>
          <p:nvSpPr>
            <p:cNvPr id="421"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22"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8(B)</a:t>
              </a:r>
            </a:p>
          </p:txBody>
        </p:sp>
      </p:grpSp>
      <p:grpSp>
        <p:nvGrpSpPr>
          <p:cNvPr id="426" name="Group 10"/>
          <p:cNvGrpSpPr/>
          <p:nvPr/>
        </p:nvGrpSpPr>
        <p:grpSpPr>
          <a:xfrm>
            <a:off x="977740" y="3315742"/>
            <a:ext cx="508159" cy="543806"/>
            <a:chOff x="0" y="0"/>
            <a:chExt cx="508157" cy="543804"/>
          </a:xfrm>
        </p:grpSpPr>
        <p:sp>
          <p:nvSpPr>
            <p:cNvPr id="424"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5"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29" name="Group 13"/>
          <p:cNvGrpSpPr/>
          <p:nvPr/>
        </p:nvGrpSpPr>
        <p:grpSpPr>
          <a:xfrm>
            <a:off x="977740" y="1982348"/>
            <a:ext cx="508159" cy="543806"/>
            <a:chOff x="0" y="0"/>
            <a:chExt cx="508157" cy="543804"/>
          </a:xfrm>
        </p:grpSpPr>
        <p:sp>
          <p:nvSpPr>
            <p:cNvPr id="427"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8"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32" name="Group 16"/>
          <p:cNvGrpSpPr/>
          <p:nvPr/>
        </p:nvGrpSpPr>
        <p:grpSpPr>
          <a:xfrm>
            <a:off x="977740" y="3983373"/>
            <a:ext cx="508159" cy="543806"/>
            <a:chOff x="0" y="0"/>
            <a:chExt cx="508157" cy="543804"/>
          </a:xfrm>
        </p:grpSpPr>
        <p:sp>
          <p:nvSpPr>
            <p:cNvPr id="430"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1"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35" name="Group 19"/>
          <p:cNvGrpSpPr/>
          <p:nvPr/>
        </p:nvGrpSpPr>
        <p:grpSpPr>
          <a:xfrm>
            <a:off x="977740" y="2648112"/>
            <a:ext cx="508159" cy="543806"/>
            <a:chOff x="0" y="0"/>
            <a:chExt cx="508157" cy="543804"/>
          </a:xfrm>
        </p:grpSpPr>
        <p:sp>
          <p:nvSpPr>
            <p:cNvPr id="433"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4"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38" name="Group 22"/>
          <p:cNvGrpSpPr/>
          <p:nvPr/>
        </p:nvGrpSpPr>
        <p:grpSpPr>
          <a:xfrm>
            <a:off x="977740" y="5318633"/>
            <a:ext cx="508159" cy="543806"/>
            <a:chOff x="0" y="0"/>
            <a:chExt cx="508157" cy="543804"/>
          </a:xfrm>
        </p:grpSpPr>
        <p:sp>
          <p:nvSpPr>
            <p:cNvPr id="436"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7"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41" name="Group 25"/>
          <p:cNvGrpSpPr/>
          <p:nvPr/>
        </p:nvGrpSpPr>
        <p:grpSpPr>
          <a:xfrm>
            <a:off x="977740" y="4651002"/>
            <a:ext cx="508159" cy="543806"/>
            <a:chOff x="0" y="0"/>
            <a:chExt cx="508157" cy="543804"/>
          </a:xfrm>
        </p:grpSpPr>
        <p:sp>
          <p:nvSpPr>
            <p:cNvPr id="439"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0"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44" name="Group 28"/>
          <p:cNvGrpSpPr/>
          <p:nvPr/>
        </p:nvGrpSpPr>
        <p:grpSpPr>
          <a:xfrm>
            <a:off x="977740" y="5986264"/>
            <a:ext cx="508159" cy="543806"/>
            <a:chOff x="0" y="0"/>
            <a:chExt cx="508157" cy="543804"/>
          </a:xfrm>
        </p:grpSpPr>
        <p:sp>
          <p:nvSpPr>
            <p:cNvPr id="442"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3"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47" name="Group 31"/>
          <p:cNvGrpSpPr/>
          <p:nvPr/>
        </p:nvGrpSpPr>
        <p:grpSpPr>
          <a:xfrm>
            <a:off x="977740" y="7760845"/>
            <a:ext cx="508159" cy="543806"/>
            <a:chOff x="0" y="0"/>
            <a:chExt cx="508157" cy="543804"/>
          </a:xfrm>
        </p:grpSpPr>
        <p:sp>
          <p:nvSpPr>
            <p:cNvPr id="445"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6"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48"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449" name="TextBox 42"/>
          <p:cNvSpPr txBox="1"/>
          <p:nvPr/>
        </p:nvSpPr>
        <p:spPr>
          <a:xfrm>
            <a:off x="198119" y="342899"/>
            <a:ext cx="16215360"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50" name="Screenshot 2026-04-22 at 1.15.34 AM.png" descr="Screenshot 2026-04-22 at 1.15.34 AM.png"/>
          <p:cNvPicPr>
            <a:picLocks noChangeAspect="1"/>
          </p:cNvPicPr>
          <p:nvPr/>
        </p:nvPicPr>
        <p:blipFill>
          <a:blip r:embed="rId2">
            <a:extLst/>
          </a:blip>
          <a:stretch>
            <a:fillRect/>
          </a:stretch>
        </p:blipFill>
        <p:spPr>
          <a:xfrm>
            <a:off x="3585425" y="1468494"/>
            <a:ext cx="11760018" cy="7350012"/>
          </a:xfrm>
          <a:prstGeom prst="rect">
            <a:avLst/>
          </a:prstGeom>
          <a:ln w="12700">
            <a:miter lim="400000"/>
          </a:ln>
        </p:spPr>
      </p:pic>
      <p:sp>
        <p:nvSpPr>
          <p:cNvPr id="451" name="Payment Gateway…"/>
          <p:cNvSpPr txBox="1"/>
          <p:nvPr/>
        </p:nvSpPr>
        <p:spPr>
          <a:xfrm>
            <a:off x="7587950" y="9180056"/>
            <a:ext cx="4636516" cy="61513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latin typeface="Times New Roman"/>
                <a:ea typeface="Times New Roman"/>
                <a:cs typeface="Times New Roman"/>
                <a:sym typeface="Times New Roman"/>
              </a:defRPr>
            </a:pPr>
            <a:r>
              <a:t>                        Payment Gateway</a:t>
            </a:r>
          </a:p>
          <a:p>
            <a:pPr>
              <a:defRPr>
                <a:latin typeface="Times New Roman"/>
                <a:ea typeface="Times New Roman"/>
                <a:cs typeface="Times New Roman"/>
                <a:sym typeface="Times New Roman"/>
              </a:defRPr>
            </a:pPr>
            <a:r>
              <a:t>Registered students can proceed with the Proceed</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55" name="Group 7"/>
          <p:cNvGrpSpPr/>
          <p:nvPr/>
        </p:nvGrpSpPr>
        <p:grpSpPr>
          <a:xfrm>
            <a:off x="735587" y="6653893"/>
            <a:ext cx="992464" cy="992464"/>
            <a:chOff x="0" y="0"/>
            <a:chExt cx="992462" cy="992462"/>
          </a:xfrm>
        </p:grpSpPr>
        <p:sp>
          <p:nvSpPr>
            <p:cNvPr id="453"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54"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458" name="Group 10"/>
          <p:cNvGrpSpPr/>
          <p:nvPr/>
        </p:nvGrpSpPr>
        <p:grpSpPr>
          <a:xfrm>
            <a:off x="977740" y="3315742"/>
            <a:ext cx="508159" cy="543806"/>
            <a:chOff x="0" y="0"/>
            <a:chExt cx="508157" cy="543804"/>
          </a:xfrm>
        </p:grpSpPr>
        <p:sp>
          <p:nvSpPr>
            <p:cNvPr id="456"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57"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61" name="Group 13"/>
          <p:cNvGrpSpPr/>
          <p:nvPr/>
        </p:nvGrpSpPr>
        <p:grpSpPr>
          <a:xfrm>
            <a:off x="977740" y="1982348"/>
            <a:ext cx="508159" cy="543806"/>
            <a:chOff x="0" y="0"/>
            <a:chExt cx="508157" cy="543804"/>
          </a:xfrm>
        </p:grpSpPr>
        <p:sp>
          <p:nvSpPr>
            <p:cNvPr id="459"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0"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64" name="Group 16"/>
          <p:cNvGrpSpPr/>
          <p:nvPr/>
        </p:nvGrpSpPr>
        <p:grpSpPr>
          <a:xfrm>
            <a:off x="977740" y="3983373"/>
            <a:ext cx="508159" cy="543806"/>
            <a:chOff x="0" y="0"/>
            <a:chExt cx="508157" cy="543804"/>
          </a:xfrm>
        </p:grpSpPr>
        <p:sp>
          <p:nvSpPr>
            <p:cNvPr id="462"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3"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67" name="Group 19"/>
          <p:cNvGrpSpPr/>
          <p:nvPr/>
        </p:nvGrpSpPr>
        <p:grpSpPr>
          <a:xfrm>
            <a:off x="977740" y="2648112"/>
            <a:ext cx="508159" cy="543806"/>
            <a:chOff x="0" y="0"/>
            <a:chExt cx="508157" cy="543804"/>
          </a:xfrm>
        </p:grpSpPr>
        <p:sp>
          <p:nvSpPr>
            <p:cNvPr id="465"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6"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70" name="Group 22"/>
          <p:cNvGrpSpPr/>
          <p:nvPr/>
        </p:nvGrpSpPr>
        <p:grpSpPr>
          <a:xfrm>
            <a:off x="977740" y="5318633"/>
            <a:ext cx="508159" cy="543806"/>
            <a:chOff x="0" y="0"/>
            <a:chExt cx="508157" cy="543804"/>
          </a:xfrm>
        </p:grpSpPr>
        <p:sp>
          <p:nvSpPr>
            <p:cNvPr id="468"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9"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73" name="Group 25"/>
          <p:cNvGrpSpPr/>
          <p:nvPr/>
        </p:nvGrpSpPr>
        <p:grpSpPr>
          <a:xfrm>
            <a:off x="977740" y="4651002"/>
            <a:ext cx="508159" cy="543806"/>
            <a:chOff x="0" y="0"/>
            <a:chExt cx="508157" cy="543804"/>
          </a:xfrm>
        </p:grpSpPr>
        <p:sp>
          <p:nvSpPr>
            <p:cNvPr id="471"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2"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76" name="Group 28"/>
          <p:cNvGrpSpPr/>
          <p:nvPr/>
        </p:nvGrpSpPr>
        <p:grpSpPr>
          <a:xfrm>
            <a:off x="977740" y="5986264"/>
            <a:ext cx="508159" cy="543806"/>
            <a:chOff x="0" y="0"/>
            <a:chExt cx="508157" cy="543804"/>
          </a:xfrm>
        </p:grpSpPr>
        <p:sp>
          <p:nvSpPr>
            <p:cNvPr id="474"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5"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79" name="Group 31"/>
          <p:cNvGrpSpPr/>
          <p:nvPr/>
        </p:nvGrpSpPr>
        <p:grpSpPr>
          <a:xfrm>
            <a:off x="977740" y="7760845"/>
            <a:ext cx="508159" cy="543806"/>
            <a:chOff x="0" y="0"/>
            <a:chExt cx="508157" cy="543804"/>
          </a:xfrm>
        </p:grpSpPr>
        <p:sp>
          <p:nvSpPr>
            <p:cNvPr id="477"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8"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80"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481" name="TextBox 42"/>
          <p:cNvSpPr txBox="1"/>
          <p:nvPr/>
        </p:nvSpPr>
        <p:spPr>
          <a:xfrm>
            <a:off x="198120" y="342899"/>
            <a:ext cx="156819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sp>
        <p:nvSpPr>
          <p:cNvPr id="482" name="Module 1: Authentication &amp; Access Control Module"/>
          <p:cNvSpPr txBox="1"/>
          <p:nvPr/>
        </p:nvSpPr>
        <p:spPr>
          <a:xfrm>
            <a:off x="1814408" y="1217125"/>
            <a:ext cx="8261050" cy="49489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spcBef>
                <a:spcPts val="1400"/>
              </a:spcBef>
              <a:defRPr b="1" sz="2900">
                <a:latin typeface="Times New Roman"/>
                <a:ea typeface="Times New Roman"/>
                <a:cs typeface="Times New Roman"/>
                <a:sym typeface="Times New Roman"/>
              </a:defRPr>
            </a:lvl1pPr>
          </a:lstStyle>
          <a:p>
            <a:pPr/>
            <a:r>
              <a:t>Module 1: Authentication &amp; Access Control Module</a:t>
            </a:r>
          </a:p>
        </p:txBody>
      </p:sp>
      <p:pic>
        <p:nvPicPr>
          <p:cNvPr id="483" name="Screenshot 2026-05-06 at 12.26.27 AM.png" descr="Screenshot 2026-05-06 at 12.26.27 AM.png"/>
          <p:cNvPicPr>
            <a:picLocks noChangeAspect="1"/>
          </p:cNvPicPr>
          <p:nvPr/>
        </p:nvPicPr>
        <p:blipFill>
          <a:blip r:embed="rId2">
            <a:extLst/>
          </a:blip>
          <a:stretch>
            <a:fillRect/>
          </a:stretch>
        </p:blipFill>
        <p:spPr>
          <a:xfrm>
            <a:off x="3655156" y="1822201"/>
            <a:ext cx="10310078" cy="6443800"/>
          </a:xfrm>
          <a:prstGeom prst="rect">
            <a:avLst/>
          </a:prstGeom>
          <a:ln w="12700">
            <a:miter lim="400000"/>
          </a:ln>
        </p:spPr>
      </p:pic>
      <p:sp>
        <p:nvSpPr>
          <p:cNvPr id="484" name="Student Signup Page with OTP Alert…"/>
          <p:cNvSpPr txBox="1"/>
          <p:nvPr/>
        </p:nvSpPr>
        <p:spPr>
          <a:xfrm>
            <a:off x="6362061" y="8608033"/>
            <a:ext cx="6858557" cy="129769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2600">
                <a:latin typeface="Times New Roman"/>
                <a:ea typeface="Times New Roman"/>
                <a:cs typeface="Times New Roman"/>
                <a:sym typeface="Times New Roman"/>
              </a:defRPr>
            </a:pPr>
            <a:r>
              <a:t>       Student Signup Page with OTP Alert</a:t>
            </a:r>
          </a:p>
          <a:p>
            <a:pPr defTabSz="457200">
              <a:spcBef>
                <a:spcPts val="1200"/>
              </a:spcBef>
              <a:defRPr sz="2400">
                <a:latin typeface="Times New Roman"/>
                <a:ea typeface="Times New Roman"/>
                <a:cs typeface="Times New Roman"/>
                <a:sym typeface="Times New Roman"/>
              </a:defRPr>
            </a:pPr>
            <a:r>
              <a:t>User Registration Interface with OTP Verification Alert</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88" name="Group 7"/>
          <p:cNvGrpSpPr/>
          <p:nvPr/>
        </p:nvGrpSpPr>
        <p:grpSpPr>
          <a:xfrm>
            <a:off x="735587" y="6653893"/>
            <a:ext cx="992464" cy="992464"/>
            <a:chOff x="0" y="0"/>
            <a:chExt cx="992462" cy="992462"/>
          </a:xfrm>
        </p:grpSpPr>
        <p:sp>
          <p:nvSpPr>
            <p:cNvPr id="486"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87"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491" name="Group 10"/>
          <p:cNvGrpSpPr/>
          <p:nvPr/>
        </p:nvGrpSpPr>
        <p:grpSpPr>
          <a:xfrm>
            <a:off x="977740" y="3315742"/>
            <a:ext cx="508159" cy="543806"/>
            <a:chOff x="0" y="0"/>
            <a:chExt cx="508157" cy="543804"/>
          </a:xfrm>
        </p:grpSpPr>
        <p:sp>
          <p:nvSpPr>
            <p:cNvPr id="489"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0"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94" name="Group 13"/>
          <p:cNvGrpSpPr/>
          <p:nvPr/>
        </p:nvGrpSpPr>
        <p:grpSpPr>
          <a:xfrm>
            <a:off x="977740" y="1982348"/>
            <a:ext cx="508159" cy="543806"/>
            <a:chOff x="0" y="0"/>
            <a:chExt cx="508157" cy="543804"/>
          </a:xfrm>
        </p:grpSpPr>
        <p:sp>
          <p:nvSpPr>
            <p:cNvPr id="492"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3"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97" name="Group 16"/>
          <p:cNvGrpSpPr/>
          <p:nvPr/>
        </p:nvGrpSpPr>
        <p:grpSpPr>
          <a:xfrm>
            <a:off x="977740" y="3983373"/>
            <a:ext cx="508159" cy="543806"/>
            <a:chOff x="0" y="0"/>
            <a:chExt cx="508157" cy="543804"/>
          </a:xfrm>
        </p:grpSpPr>
        <p:sp>
          <p:nvSpPr>
            <p:cNvPr id="495"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6"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500" name="Group 19"/>
          <p:cNvGrpSpPr/>
          <p:nvPr/>
        </p:nvGrpSpPr>
        <p:grpSpPr>
          <a:xfrm>
            <a:off x="977740" y="2648112"/>
            <a:ext cx="508159" cy="543806"/>
            <a:chOff x="0" y="0"/>
            <a:chExt cx="508157" cy="543804"/>
          </a:xfrm>
        </p:grpSpPr>
        <p:sp>
          <p:nvSpPr>
            <p:cNvPr id="498"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9"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503" name="Group 22"/>
          <p:cNvGrpSpPr/>
          <p:nvPr/>
        </p:nvGrpSpPr>
        <p:grpSpPr>
          <a:xfrm>
            <a:off x="977740" y="5318633"/>
            <a:ext cx="508159" cy="543806"/>
            <a:chOff x="0" y="0"/>
            <a:chExt cx="508157" cy="543804"/>
          </a:xfrm>
        </p:grpSpPr>
        <p:sp>
          <p:nvSpPr>
            <p:cNvPr id="501"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2"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506" name="Group 25"/>
          <p:cNvGrpSpPr/>
          <p:nvPr/>
        </p:nvGrpSpPr>
        <p:grpSpPr>
          <a:xfrm>
            <a:off x="977740" y="4651002"/>
            <a:ext cx="508159" cy="543806"/>
            <a:chOff x="0" y="0"/>
            <a:chExt cx="508157" cy="543804"/>
          </a:xfrm>
        </p:grpSpPr>
        <p:sp>
          <p:nvSpPr>
            <p:cNvPr id="504"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5"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509" name="Group 28"/>
          <p:cNvGrpSpPr/>
          <p:nvPr/>
        </p:nvGrpSpPr>
        <p:grpSpPr>
          <a:xfrm>
            <a:off x="977740" y="5986264"/>
            <a:ext cx="508159" cy="543806"/>
            <a:chOff x="0" y="0"/>
            <a:chExt cx="508157" cy="543804"/>
          </a:xfrm>
        </p:grpSpPr>
        <p:sp>
          <p:nvSpPr>
            <p:cNvPr id="507"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8"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512" name="Group 31"/>
          <p:cNvGrpSpPr/>
          <p:nvPr/>
        </p:nvGrpSpPr>
        <p:grpSpPr>
          <a:xfrm>
            <a:off x="977740" y="7760845"/>
            <a:ext cx="508159" cy="543806"/>
            <a:chOff x="0" y="0"/>
            <a:chExt cx="508157" cy="543804"/>
          </a:xfrm>
        </p:grpSpPr>
        <p:sp>
          <p:nvSpPr>
            <p:cNvPr id="510"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11"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513"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514" name="TextBox 42"/>
          <p:cNvSpPr txBox="1"/>
          <p:nvPr/>
        </p:nvSpPr>
        <p:spPr>
          <a:xfrm>
            <a:off x="198120" y="342899"/>
            <a:ext cx="15896105"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sp>
        <p:nvSpPr>
          <p:cNvPr id="515" name="Module 2: Event Management &amp; Registration Module"/>
          <p:cNvSpPr txBox="1"/>
          <p:nvPr/>
        </p:nvSpPr>
        <p:spPr>
          <a:xfrm>
            <a:off x="2104096" y="1276523"/>
            <a:ext cx="8321487" cy="48273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spcBef>
                <a:spcPts val="1400"/>
              </a:spcBef>
              <a:defRPr b="1" sz="2800">
                <a:latin typeface="Times New Roman"/>
                <a:ea typeface="Times New Roman"/>
                <a:cs typeface="Times New Roman"/>
                <a:sym typeface="Times New Roman"/>
              </a:defRPr>
            </a:lvl1pPr>
          </a:lstStyle>
          <a:p>
            <a:pPr/>
            <a:r>
              <a:t>Module 2: Event Management &amp; Registration Module</a:t>
            </a:r>
          </a:p>
        </p:txBody>
      </p:sp>
      <p:pic>
        <p:nvPicPr>
          <p:cNvPr id="516" name="Screenshot 2026-05-06 at 12.29.25 AM.png" descr="Screenshot 2026-05-06 at 12.29.25 AM.png"/>
          <p:cNvPicPr>
            <a:picLocks noChangeAspect="1"/>
          </p:cNvPicPr>
          <p:nvPr/>
        </p:nvPicPr>
        <p:blipFill>
          <a:blip r:embed="rId2">
            <a:extLst/>
          </a:blip>
          <a:stretch>
            <a:fillRect/>
          </a:stretch>
        </p:blipFill>
        <p:spPr>
          <a:xfrm>
            <a:off x="3319086" y="2314165"/>
            <a:ext cx="10484388" cy="6552743"/>
          </a:xfrm>
          <a:prstGeom prst="rect">
            <a:avLst/>
          </a:prstGeom>
          <a:ln w="12700">
            <a:miter lim="400000"/>
          </a:ln>
        </p:spPr>
      </p:pic>
      <p:sp>
        <p:nvSpPr>
          <p:cNvPr id="517" name="Admin Dashboard with Events &amp; Attendance…"/>
          <p:cNvSpPr txBox="1"/>
          <p:nvPr/>
        </p:nvSpPr>
        <p:spPr>
          <a:xfrm>
            <a:off x="6163770" y="9149894"/>
            <a:ext cx="6637739" cy="71619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2500">
                <a:latin typeface="Times New Roman"/>
                <a:ea typeface="Times New Roman"/>
                <a:cs typeface="Times New Roman"/>
                <a:sym typeface="Times New Roman"/>
              </a:defRPr>
            </a:pPr>
            <a:r>
              <a:t>  Admin Dashboard with Events &amp; Attendance</a:t>
            </a:r>
          </a:p>
          <a:p>
            <a:pPr defTabSz="457200">
              <a:defRPr sz="1900">
                <a:latin typeface="Times New Roman"/>
                <a:ea typeface="Times New Roman"/>
                <a:cs typeface="Times New Roman"/>
                <a:sym typeface="Times New Roman"/>
              </a:defRPr>
            </a:pPr>
            <a:r>
              <a:t>Admin Dashboard for Event Management and Attendance Tracking</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9" name="Module 3: Attendance &amp; Certification Module"/>
          <p:cNvSpPr txBox="1"/>
          <p:nvPr/>
        </p:nvSpPr>
        <p:spPr>
          <a:xfrm>
            <a:off x="1199937" y="921071"/>
            <a:ext cx="7215099" cy="48273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spcBef>
                <a:spcPts val="1400"/>
              </a:spcBef>
              <a:defRPr b="1" sz="2800">
                <a:latin typeface="Times New Roman"/>
                <a:ea typeface="Times New Roman"/>
                <a:cs typeface="Times New Roman"/>
                <a:sym typeface="Times New Roman"/>
              </a:defRPr>
            </a:lvl1pPr>
          </a:lstStyle>
          <a:p>
            <a:pPr/>
            <a:r>
              <a:t> Module 3: Attendance &amp; Certification Module</a:t>
            </a:r>
          </a:p>
        </p:txBody>
      </p:sp>
      <p:pic>
        <p:nvPicPr>
          <p:cNvPr id="520" name="Screenshot 2026-05-06 at 12.30.46 AM.png" descr="Screenshot 2026-05-06 at 12.30.46 AM.png"/>
          <p:cNvPicPr>
            <a:picLocks noChangeAspect="1"/>
          </p:cNvPicPr>
          <p:nvPr/>
        </p:nvPicPr>
        <p:blipFill>
          <a:blip r:embed="rId2">
            <a:extLst/>
          </a:blip>
          <a:stretch>
            <a:fillRect/>
          </a:stretch>
        </p:blipFill>
        <p:spPr>
          <a:xfrm>
            <a:off x="3023334" y="1922743"/>
            <a:ext cx="10236201" cy="7264401"/>
          </a:xfrm>
          <a:prstGeom prst="rect">
            <a:avLst/>
          </a:prstGeom>
          <a:ln w="12700">
            <a:miter lim="400000"/>
          </a:ln>
        </p:spPr>
      </p:pic>
      <p:sp>
        <p:nvSpPr>
          <p:cNvPr id="521" name="Generated Certificate…"/>
          <p:cNvSpPr txBox="1"/>
          <p:nvPr/>
        </p:nvSpPr>
        <p:spPr>
          <a:xfrm>
            <a:off x="4601168" y="9380938"/>
            <a:ext cx="7080533" cy="77861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2600">
                <a:latin typeface="Times New Roman"/>
                <a:ea typeface="Times New Roman"/>
                <a:cs typeface="Times New Roman"/>
                <a:sym typeface="Times New Roman"/>
              </a:defRPr>
            </a:pPr>
            <a:r>
              <a:t>                   Generated Certificate</a:t>
            </a:r>
          </a:p>
          <a:p>
            <a:pPr defTabSz="457200">
              <a:defRPr sz="2100">
                <a:latin typeface="Times New Roman"/>
                <a:ea typeface="Times New Roman"/>
                <a:cs typeface="Times New Roman"/>
                <a:sym typeface="Times New Roman"/>
              </a:defRPr>
            </a:pPr>
            <a:r>
              <a:t>Automatically Generated Certificate of Attendance (PDF Output)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25" name="Group 7"/>
          <p:cNvGrpSpPr/>
          <p:nvPr/>
        </p:nvGrpSpPr>
        <p:grpSpPr>
          <a:xfrm>
            <a:off x="735587" y="6653893"/>
            <a:ext cx="992464" cy="992464"/>
            <a:chOff x="0" y="0"/>
            <a:chExt cx="992462" cy="992462"/>
          </a:xfrm>
        </p:grpSpPr>
        <p:sp>
          <p:nvSpPr>
            <p:cNvPr id="523"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524"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528" name="Group 10"/>
          <p:cNvGrpSpPr/>
          <p:nvPr/>
        </p:nvGrpSpPr>
        <p:grpSpPr>
          <a:xfrm>
            <a:off x="977740" y="3315742"/>
            <a:ext cx="508159" cy="543806"/>
            <a:chOff x="0" y="0"/>
            <a:chExt cx="508157" cy="543804"/>
          </a:xfrm>
        </p:grpSpPr>
        <p:sp>
          <p:nvSpPr>
            <p:cNvPr id="526"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27"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531" name="Group 13"/>
          <p:cNvGrpSpPr/>
          <p:nvPr/>
        </p:nvGrpSpPr>
        <p:grpSpPr>
          <a:xfrm>
            <a:off x="977740" y="1982348"/>
            <a:ext cx="508159" cy="543806"/>
            <a:chOff x="0" y="0"/>
            <a:chExt cx="508157" cy="543804"/>
          </a:xfrm>
        </p:grpSpPr>
        <p:sp>
          <p:nvSpPr>
            <p:cNvPr id="529"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30"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534" name="Group 16"/>
          <p:cNvGrpSpPr/>
          <p:nvPr/>
        </p:nvGrpSpPr>
        <p:grpSpPr>
          <a:xfrm>
            <a:off x="977740" y="3983373"/>
            <a:ext cx="508159" cy="543806"/>
            <a:chOff x="0" y="0"/>
            <a:chExt cx="508157" cy="543804"/>
          </a:xfrm>
        </p:grpSpPr>
        <p:sp>
          <p:nvSpPr>
            <p:cNvPr id="532"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33"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537" name="Group 19"/>
          <p:cNvGrpSpPr/>
          <p:nvPr/>
        </p:nvGrpSpPr>
        <p:grpSpPr>
          <a:xfrm>
            <a:off x="977740" y="2648112"/>
            <a:ext cx="508159" cy="543806"/>
            <a:chOff x="0" y="0"/>
            <a:chExt cx="508157" cy="543804"/>
          </a:xfrm>
        </p:grpSpPr>
        <p:sp>
          <p:nvSpPr>
            <p:cNvPr id="535"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36"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540" name="Group 22"/>
          <p:cNvGrpSpPr/>
          <p:nvPr/>
        </p:nvGrpSpPr>
        <p:grpSpPr>
          <a:xfrm>
            <a:off x="977740" y="5318633"/>
            <a:ext cx="508159" cy="543806"/>
            <a:chOff x="0" y="0"/>
            <a:chExt cx="508157" cy="543804"/>
          </a:xfrm>
        </p:grpSpPr>
        <p:sp>
          <p:nvSpPr>
            <p:cNvPr id="538"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39"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543" name="Group 25"/>
          <p:cNvGrpSpPr/>
          <p:nvPr/>
        </p:nvGrpSpPr>
        <p:grpSpPr>
          <a:xfrm>
            <a:off x="977740" y="4651002"/>
            <a:ext cx="508159" cy="543806"/>
            <a:chOff x="0" y="0"/>
            <a:chExt cx="508157" cy="543804"/>
          </a:xfrm>
        </p:grpSpPr>
        <p:sp>
          <p:nvSpPr>
            <p:cNvPr id="541"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42"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546" name="Group 28"/>
          <p:cNvGrpSpPr/>
          <p:nvPr/>
        </p:nvGrpSpPr>
        <p:grpSpPr>
          <a:xfrm>
            <a:off x="977740" y="5986264"/>
            <a:ext cx="508159" cy="543806"/>
            <a:chOff x="0" y="0"/>
            <a:chExt cx="508157" cy="543804"/>
          </a:xfrm>
        </p:grpSpPr>
        <p:sp>
          <p:nvSpPr>
            <p:cNvPr id="544"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45"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549" name="Group 31"/>
          <p:cNvGrpSpPr/>
          <p:nvPr/>
        </p:nvGrpSpPr>
        <p:grpSpPr>
          <a:xfrm>
            <a:off x="977740" y="7760845"/>
            <a:ext cx="508159" cy="543806"/>
            <a:chOff x="0" y="0"/>
            <a:chExt cx="508157" cy="543804"/>
          </a:xfrm>
        </p:grpSpPr>
        <p:sp>
          <p:nvSpPr>
            <p:cNvPr id="547"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48"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550"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551" name="TextBox 42"/>
          <p:cNvSpPr txBox="1"/>
          <p:nvPr/>
        </p:nvSpPr>
        <p:spPr>
          <a:xfrm>
            <a:off x="198120" y="342899"/>
            <a:ext cx="162153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552" name="Screenshot 2026-05-06 at 12.23.42 AM.png" descr="Screenshot 2026-05-06 at 12.23.42 AM.png"/>
          <p:cNvPicPr>
            <a:picLocks noChangeAspect="1"/>
          </p:cNvPicPr>
          <p:nvPr/>
        </p:nvPicPr>
        <p:blipFill>
          <a:blip r:embed="rId2">
            <a:extLst/>
          </a:blip>
          <a:stretch>
            <a:fillRect/>
          </a:stretch>
        </p:blipFill>
        <p:spPr>
          <a:xfrm>
            <a:off x="4427986" y="1985354"/>
            <a:ext cx="10106068" cy="6316292"/>
          </a:xfrm>
          <a:prstGeom prst="rect">
            <a:avLst/>
          </a:prstGeom>
          <a:ln w="12700">
            <a:miter lim="400000"/>
          </a:ln>
        </p:spPr>
      </p:pic>
      <p:sp>
        <p:nvSpPr>
          <p:cNvPr id="553" name="Certificate Email in Gmail…"/>
          <p:cNvSpPr txBox="1"/>
          <p:nvPr/>
        </p:nvSpPr>
        <p:spPr>
          <a:xfrm>
            <a:off x="6671260" y="8616716"/>
            <a:ext cx="5619519" cy="662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1900">
                <a:latin typeface="Times New Roman"/>
                <a:ea typeface="Times New Roman"/>
                <a:cs typeface="Times New Roman"/>
                <a:sym typeface="Times New Roman"/>
              </a:defRPr>
            </a:pPr>
            <a:r>
              <a:t>                   Certificate Email in Gmail</a:t>
            </a:r>
          </a:p>
          <a:p>
            <a:pPr defTabSz="457200">
              <a:defRPr sz="1900">
                <a:latin typeface="Times Roman"/>
                <a:ea typeface="Times Roman"/>
                <a:cs typeface="Times Roman"/>
                <a:sym typeface="Times Roman"/>
              </a:defRPr>
            </a:pPr>
            <a:r>
              <a:t>Email Notification with Attached Certificate Sent to User</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55" name="Screenshot 2026-05-06 at 12.24.26 AM.png" descr="Screenshot 2026-05-06 at 12.24.26 AM.png"/>
          <p:cNvPicPr>
            <a:picLocks noChangeAspect="1"/>
          </p:cNvPicPr>
          <p:nvPr/>
        </p:nvPicPr>
        <p:blipFill>
          <a:blip r:embed="rId2">
            <a:extLst/>
          </a:blip>
          <a:stretch>
            <a:fillRect/>
          </a:stretch>
        </p:blipFill>
        <p:spPr>
          <a:xfrm>
            <a:off x="2682828" y="1370017"/>
            <a:ext cx="11126756" cy="6954223"/>
          </a:xfrm>
          <a:prstGeom prst="rect">
            <a:avLst/>
          </a:prstGeom>
          <a:ln w="12700">
            <a:miter lim="400000"/>
          </a:ln>
        </p:spPr>
      </p:pic>
      <p:sp>
        <p:nvSpPr>
          <p:cNvPr id="556" name="OTP Email…"/>
          <p:cNvSpPr txBox="1"/>
          <p:nvPr/>
        </p:nvSpPr>
        <p:spPr>
          <a:xfrm>
            <a:off x="5647761" y="8705579"/>
            <a:ext cx="5196891" cy="69079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2300">
                <a:latin typeface="Times New Roman"/>
                <a:ea typeface="Times New Roman"/>
                <a:cs typeface="Times New Roman"/>
                <a:sym typeface="Times New Roman"/>
              </a:defRPr>
            </a:pPr>
            <a:r>
              <a:t>                       OTP Email</a:t>
            </a:r>
          </a:p>
          <a:p>
            <a:pPr defTabSz="457200">
              <a:defRPr sz="1900">
                <a:latin typeface="Times New Roman"/>
                <a:ea typeface="Times New Roman"/>
                <a:cs typeface="Times New Roman"/>
                <a:sym typeface="Times New Roman"/>
              </a:defRPr>
            </a:pPr>
            <a:r>
              <a:t>OTP Verification Email for Secure User Registration</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60" name="Group 7"/>
          <p:cNvGrpSpPr/>
          <p:nvPr/>
        </p:nvGrpSpPr>
        <p:grpSpPr>
          <a:xfrm>
            <a:off x="735587" y="6653893"/>
            <a:ext cx="992464" cy="992464"/>
            <a:chOff x="0" y="0"/>
            <a:chExt cx="992462" cy="992462"/>
          </a:xfrm>
        </p:grpSpPr>
        <p:sp>
          <p:nvSpPr>
            <p:cNvPr id="558"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559"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563" name="Group 10"/>
          <p:cNvGrpSpPr/>
          <p:nvPr/>
        </p:nvGrpSpPr>
        <p:grpSpPr>
          <a:xfrm>
            <a:off x="977740" y="3315742"/>
            <a:ext cx="508159" cy="543806"/>
            <a:chOff x="0" y="0"/>
            <a:chExt cx="508157" cy="543804"/>
          </a:xfrm>
        </p:grpSpPr>
        <p:sp>
          <p:nvSpPr>
            <p:cNvPr id="561"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62"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566" name="Group 13"/>
          <p:cNvGrpSpPr/>
          <p:nvPr/>
        </p:nvGrpSpPr>
        <p:grpSpPr>
          <a:xfrm>
            <a:off x="977740" y="1982348"/>
            <a:ext cx="508159" cy="543806"/>
            <a:chOff x="0" y="0"/>
            <a:chExt cx="508157" cy="543804"/>
          </a:xfrm>
        </p:grpSpPr>
        <p:sp>
          <p:nvSpPr>
            <p:cNvPr id="564"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65"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569" name="Group 16"/>
          <p:cNvGrpSpPr/>
          <p:nvPr/>
        </p:nvGrpSpPr>
        <p:grpSpPr>
          <a:xfrm>
            <a:off x="977740" y="3983373"/>
            <a:ext cx="508159" cy="543806"/>
            <a:chOff x="0" y="0"/>
            <a:chExt cx="508157" cy="543804"/>
          </a:xfrm>
        </p:grpSpPr>
        <p:sp>
          <p:nvSpPr>
            <p:cNvPr id="567"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68"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572" name="Group 19"/>
          <p:cNvGrpSpPr/>
          <p:nvPr/>
        </p:nvGrpSpPr>
        <p:grpSpPr>
          <a:xfrm>
            <a:off x="977740" y="2648112"/>
            <a:ext cx="508159" cy="543806"/>
            <a:chOff x="0" y="0"/>
            <a:chExt cx="508157" cy="543804"/>
          </a:xfrm>
        </p:grpSpPr>
        <p:sp>
          <p:nvSpPr>
            <p:cNvPr id="570"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71"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575" name="Group 22"/>
          <p:cNvGrpSpPr/>
          <p:nvPr/>
        </p:nvGrpSpPr>
        <p:grpSpPr>
          <a:xfrm>
            <a:off x="977740" y="5318633"/>
            <a:ext cx="508159" cy="543806"/>
            <a:chOff x="0" y="0"/>
            <a:chExt cx="508157" cy="543804"/>
          </a:xfrm>
        </p:grpSpPr>
        <p:sp>
          <p:nvSpPr>
            <p:cNvPr id="573"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74"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578" name="Group 25"/>
          <p:cNvGrpSpPr/>
          <p:nvPr/>
        </p:nvGrpSpPr>
        <p:grpSpPr>
          <a:xfrm>
            <a:off x="977740" y="4651002"/>
            <a:ext cx="508159" cy="543806"/>
            <a:chOff x="0" y="0"/>
            <a:chExt cx="508157" cy="543804"/>
          </a:xfrm>
        </p:grpSpPr>
        <p:sp>
          <p:nvSpPr>
            <p:cNvPr id="576"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77"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581" name="Group 28"/>
          <p:cNvGrpSpPr/>
          <p:nvPr/>
        </p:nvGrpSpPr>
        <p:grpSpPr>
          <a:xfrm>
            <a:off x="977740" y="5986264"/>
            <a:ext cx="508159" cy="543806"/>
            <a:chOff x="0" y="0"/>
            <a:chExt cx="508157" cy="543804"/>
          </a:xfrm>
        </p:grpSpPr>
        <p:sp>
          <p:nvSpPr>
            <p:cNvPr id="579"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80"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584" name="Group 31"/>
          <p:cNvGrpSpPr/>
          <p:nvPr/>
        </p:nvGrpSpPr>
        <p:grpSpPr>
          <a:xfrm>
            <a:off x="977740" y="7760845"/>
            <a:ext cx="508159" cy="543806"/>
            <a:chOff x="0" y="0"/>
            <a:chExt cx="508157" cy="543804"/>
          </a:xfrm>
        </p:grpSpPr>
        <p:sp>
          <p:nvSpPr>
            <p:cNvPr id="582"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83"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585"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586" name="TextBox 42"/>
          <p:cNvSpPr txBox="1"/>
          <p:nvPr/>
        </p:nvSpPr>
        <p:spPr>
          <a:xfrm>
            <a:off x="198120" y="342899"/>
            <a:ext cx="15896105"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587" name="Screenshot 2026-05-06 at 12.22.24 AM.png" descr="Screenshot 2026-05-06 at 12.22.24 AM.png"/>
          <p:cNvPicPr>
            <a:picLocks noChangeAspect="1"/>
          </p:cNvPicPr>
          <p:nvPr/>
        </p:nvPicPr>
        <p:blipFill>
          <a:blip r:embed="rId2">
            <a:extLst/>
          </a:blip>
          <a:stretch>
            <a:fillRect/>
          </a:stretch>
        </p:blipFill>
        <p:spPr>
          <a:xfrm>
            <a:off x="3587749" y="1472417"/>
            <a:ext cx="11747464" cy="7342166"/>
          </a:xfrm>
          <a:prstGeom prst="rect">
            <a:avLst/>
          </a:prstGeom>
          <a:ln w="12700">
            <a:miter lim="400000"/>
          </a:ln>
        </p:spPr>
      </p:pic>
      <p:sp>
        <p:nvSpPr>
          <p:cNvPr id="588" name="phpMyAdmin Database Tables…"/>
          <p:cNvSpPr txBox="1"/>
          <p:nvPr/>
        </p:nvSpPr>
        <p:spPr>
          <a:xfrm>
            <a:off x="6848913" y="8989941"/>
            <a:ext cx="6303577" cy="67863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2300">
                <a:latin typeface="Times New Roman"/>
                <a:ea typeface="Times New Roman"/>
                <a:cs typeface="Times New Roman"/>
                <a:sym typeface="Times New Roman"/>
              </a:defRPr>
            </a:pPr>
            <a:r>
              <a:t>              phpMyAdmin Database Tables</a:t>
            </a:r>
          </a:p>
          <a:p>
            <a:pPr defTabSz="457200">
              <a:defRPr>
                <a:latin typeface="Times New Roman"/>
                <a:ea typeface="Times New Roman"/>
                <a:cs typeface="Times New Roman"/>
                <a:sym typeface="Times New Roman"/>
              </a:defRPr>
            </a:pPr>
            <a:r>
              <a:t>Database Structure in MySQL (Users, Events, Registrations Tables)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92" name="Group 5"/>
          <p:cNvGrpSpPr/>
          <p:nvPr/>
        </p:nvGrpSpPr>
        <p:grpSpPr>
          <a:xfrm>
            <a:off x="735587" y="7321525"/>
            <a:ext cx="992464" cy="992464"/>
            <a:chOff x="0" y="0"/>
            <a:chExt cx="992462" cy="992462"/>
          </a:xfrm>
        </p:grpSpPr>
        <p:sp>
          <p:nvSpPr>
            <p:cNvPr id="590"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591"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9</a:t>
              </a:r>
            </a:p>
          </p:txBody>
        </p:sp>
      </p:grpSp>
      <p:grpSp>
        <p:nvGrpSpPr>
          <p:cNvPr id="595" name="Group 8"/>
          <p:cNvGrpSpPr/>
          <p:nvPr/>
        </p:nvGrpSpPr>
        <p:grpSpPr>
          <a:xfrm>
            <a:off x="977740" y="3315742"/>
            <a:ext cx="508159" cy="543806"/>
            <a:chOff x="0" y="0"/>
            <a:chExt cx="508157" cy="543804"/>
          </a:xfrm>
        </p:grpSpPr>
        <p:sp>
          <p:nvSpPr>
            <p:cNvPr id="593"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94"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598" name="Group 11"/>
          <p:cNvGrpSpPr/>
          <p:nvPr/>
        </p:nvGrpSpPr>
        <p:grpSpPr>
          <a:xfrm>
            <a:off x="977740" y="1982348"/>
            <a:ext cx="508159" cy="543806"/>
            <a:chOff x="0" y="0"/>
            <a:chExt cx="508157" cy="543804"/>
          </a:xfrm>
        </p:grpSpPr>
        <p:sp>
          <p:nvSpPr>
            <p:cNvPr id="596"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97"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601" name="Group 14"/>
          <p:cNvGrpSpPr/>
          <p:nvPr/>
        </p:nvGrpSpPr>
        <p:grpSpPr>
          <a:xfrm>
            <a:off x="977740" y="3983373"/>
            <a:ext cx="508159" cy="543806"/>
            <a:chOff x="0" y="0"/>
            <a:chExt cx="508157" cy="543804"/>
          </a:xfrm>
        </p:grpSpPr>
        <p:sp>
          <p:nvSpPr>
            <p:cNvPr id="599"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600"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604" name="Group 17"/>
          <p:cNvGrpSpPr/>
          <p:nvPr/>
        </p:nvGrpSpPr>
        <p:grpSpPr>
          <a:xfrm>
            <a:off x="977740" y="2648112"/>
            <a:ext cx="508159" cy="543806"/>
            <a:chOff x="0" y="0"/>
            <a:chExt cx="508157" cy="543804"/>
          </a:xfrm>
        </p:grpSpPr>
        <p:sp>
          <p:nvSpPr>
            <p:cNvPr id="602"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603"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607" name="Group 20"/>
          <p:cNvGrpSpPr/>
          <p:nvPr/>
        </p:nvGrpSpPr>
        <p:grpSpPr>
          <a:xfrm>
            <a:off x="977740" y="5318633"/>
            <a:ext cx="508159" cy="543806"/>
            <a:chOff x="0" y="0"/>
            <a:chExt cx="508157" cy="543804"/>
          </a:xfrm>
        </p:grpSpPr>
        <p:sp>
          <p:nvSpPr>
            <p:cNvPr id="605"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606"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610" name="Group 23"/>
          <p:cNvGrpSpPr/>
          <p:nvPr/>
        </p:nvGrpSpPr>
        <p:grpSpPr>
          <a:xfrm>
            <a:off x="977740" y="4651002"/>
            <a:ext cx="508159" cy="543806"/>
            <a:chOff x="0" y="0"/>
            <a:chExt cx="508157" cy="543804"/>
          </a:xfrm>
        </p:grpSpPr>
        <p:sp>
          <p:nvSpPr>
            <p:cNvPr id="608"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609"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613" name="Group 26"/>
          <p:cNvGrpSpPr/>
          <p:nvPr/>
        </p:nvGrpSpPr>
        <p:grpSpPr>
          <a:xfrm>
            <a:off x="977740" y="5986264"/>
            <a:ext cx="508159" cy="543806"/>
            <a:chOff x="0" y="0"/>
            <a:chExt cx="508157" cy="543804"/>
          </a:xfrm>
        </p:grpSpPr>
        <p:sp>
          <p:nvSpPr>
            <p:cNvPr id="611"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612"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616" name="Group 29"/>
          <p:cNvGrpSpPr/>
          <p:nvPr/>
        </p:nvGrpSpPr>
        <p:grpSpPr>
          <a:xfrm>
            <a:off x="977740" y="6653893"/>
            <a:ext cx="508159" cy="543806"/>
            <a:chOff x="0" y="0"/>
            <a:chExt cx="508157" cy="543804"/>
          </a:xfrm>
        </p:grpSpPr>
        <p:sp>
          <p:nvSpPr>
            <p:cNvPr id="614"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615"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sp>
        <p:nvSpPr>
          <p:cNvPr id="617" name="Freeform 45"/>
          <p:cNvSpPr/>
          <p:nvPr/>
        </p:nvSpPr>
        <p:spPr>
          <a:xfrm>
            <a:off x="16786359" y="-353712"/>
            <a:ext cx="10994425" cy="10994424"/>
          </a:xfrm>
          <a:prstGeom prst="ellipse">
            <a:avLst/>
          </a:prstGeom>
          <a:ln w="619125" cap="sq">
            <a:solidFill>
              <a:srgbClr val="FD6220">
                <a:alpha val="11765"/>
              </a:srgbClr>
            </a:solidFill>
            <a:miter/>
          </a:ln>
        </p:spPr>
        <p:txBody>
          <a:bodyPr lIns="45719" rIns="45719"/>
          <a:lstStyle/>
          <a:p>
            <a:pPr/>
          </a:p>
        </p:txBody>
      </p:sp>
      <p:sp>
        <p:nvSpPr>
          <p:cNvPr id="618" name="TextBox 1"/>
          <p:cNvSpPr txBox="1"/>
          <p:nvPr/>
        </p:nvSpPr>
        <p:spPr>
          <a:xfrm>
            <a:off x="236220" y="290492"/>
            <a:ext cx="1603148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ADVANTAGES &amp; LIMITATIONS</a:t>
            </a:r>
          </a:p>
        </p:txBody>
      </p:sp>
      <p:sp>
        <p:nvSpPr>
          <p:cNvPr id="619" name="Advantages…"/>
          <p:cNvSpPr txBox="1"/>
          <p:nvPr/>
        </p:nvSpPr>
        <p:spPr>
          <a:xfrm>
            <a:off x="2733563" y="1953329"/>
            <a:ext cx="13344884" cy="695821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spcBef>
                <a:spcPts val="1400"/>
              </a:spcBef>
              <a:defRPr b="1" sz="2800">
                <a:latin typeface="Times New Roman"/>
                <a:ea typeface="Times New Roman"/>
                <a:cs typeface="Times New Roman"/>
                <a:sym typeface="Times New Roman"/>
              </a:defRPr>
            </a:pPr>
            <a:r>
              <a:t>Advantages</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Time Saving:</a:t>
            </a:r>
            <a:r>
              <a:t> Automates registration, attendance, and certificate generation.</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Easy to Use:</a:t>
            </a:r>
            <a:r>
              <a:t> Simple interface for students and administrators.</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Reduced Manual Work:</a:t>
            </a:r>
            <a:r>
              <a:t> Minimizes paperwork and human effort.</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Fast Certificate Generation:</a:t>
            </a:r>
            <a:r>
              <a:t> Certificates are generated and sent instantly.</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Accurate Data Management:</a:t>
            </a:r>
            <a:r>
              <a:t> Reduces errors in attendance and records.</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Centralized System:</a:t>
            </a:r>
            <a:r>
              <a:t> All event-related data is managed in one platform.</a:t>
            </a:r>
          </a:p>
          <a:p>
            <a:pPr defTabSz="457200">
              <a:defRPr sz="2800">
                <a:solidFill>
                  <a:srgbClr val="808080"/>
                </a:solidFill>
                <a:latin typeface="Times New Roman"/>
                <a:ea typeface="Times New Roman"/>
                <a:cs typeface="Times New Roman"/>
                <a:sym typeface="Times New Roman"/>
              </a:defRPr>
            </a:pPr>
          </a:p>
          <a:p>
            <a:pPr defTabSz="457200">
              <a:spcBef>
                <a:spcPts val="1400"/>
              </a:spcBef>
              <a:defRPr b="1" sz="2800">
                <a:latin typeface="Times New Roman"/>
                <a:ea typeface="Times New Roman"/>
                <a:cs typeface="Times New Roman"/>
                <a:sym typeface="Times New Roman"/>
              </a:defRPr>
            </a:pPr>
            <a:r>
              <a:t> Disadvantages</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Internet Dependency:</a:t>
            </a:r>
            <a:r>
              <a:t> Requires stable internet connection.</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Initial Setup Required:</a:t>
            </a:r>
            <a:r>
              <a:t> Needs proper installation and configuration (XAMPP, database).</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Maintenance Needed:</a:t>
            </a:r>
            <a:r>
              <a:t> Regular updates required for security and performance.</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Technical Knowledge:</a:t>
            </a:r>
            <a:r>
              <a:t> Some users may need guidance initially.</a:t>
            </a:r>
          </a:p>
          <a:p>
            <a:pPr marL="457200" indent="-317500" defTabSz="457200">
              <a:buSzPct val="100000"/>
              <a:buFont typeface="Times Roman"/>
              <a:buAutoNum type="arabicPeriod" startAt="1"/>
              <a:defRPr sz="2800">
                <a:latin typeface="Times New Roman"/>
                <a:ea typeface="Times New Roman"/>
                <a:cs typeface="Times New Roman"/>
                <a:sym typeface="Times New Roman"/>
              </a:defRPr>
            </a:pPr>
            <a:r>
              <a:rPr b="1"/>
              <a:t>Server Dependency:</a:t>
            </a:r>
            <a:r>
              <a:t> System may stop working if the server fails.</a:t>
            </a:r>
          </a:p>
          <a:p>
            <a:pPr defTabSz="457200">
              <a:defRPr sz="2800">
                <a:solidFill>
                  <a:srgbClr val="808080"/>
                </a:solidFill>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1" name="TextBox 43"/>
          <p:cNvSpPr txBox="1"/>
          <p:nvPr/>
        </p:nvSpPr>
        <p:spPr>
          <a:xfrm>
            <a:off x="3200400" y="4486171"/>
            <a:ext cx="11159653" cy="1350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0100"/>
              </a:lnSpc>
              <a:defRPr b="1" i="1" sz="11100">
                <a:solidFill>
                  <a:srgbClr val="191919"/>
                </a:solidFill>
                <a:latin typeface="Gotham Bold Italics"/>
                <a:ea typeface="Gotham Bold Italics"/>
                <a:cs typeface="Gotham Bold Italics"/>
                <a:sym typeface="Gotham Bold Italics"/>
              </a:defRPr>
            </a:lvl1pPr>
          </a:lstStyle>
          <a:p>
            <a:pPr/>
            <a:r>
              <a:t>Thank you</a:t>
            </a:r>
          </a:p>
        </p:txBody>
      </p:sp>
      <p:sp>
        <p:nvSpPr>
          <p:cNvPr id="622" name="Freeform 45"/>
          <p:cNvSpPr/>
          <p:nvPr/>
        </p:nvSpPr>
        <p:spPr>
          <a:xfrm>
            <a:off x="16786359" y="-353712"/>
            <a:ext cx="10994425" cy="10994424"/>
          </a:xfrm>
          <a:prstGeom prst="ellipse">
            <a:avLst/>
          </a:prstGeom>
          <a:ln w="619125"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